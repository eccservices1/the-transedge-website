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the board to approve three things tonight: the new symbol, the typography, and the new website before it replaces the Wix site. Everything you will see has been built and measured, not mocked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decisions. The board can approve all three, or approve the brand and hold the website until the outstanding items on slide 12 are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matters of taste. The EGDE reading is a defect in a mark that has to carry a family of organisations, and the missing variants meant every new use needed a workaround.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comes from the supplied masterbrand suite. The idea is a threshold: the way through is already open. That is the vision and the tagline in one form, without stating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refuses to render the mark below 16px, so it cannot be set too small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Ember is the one people will want to overuse. It fails contrast as text, so there is a second, darker cut for words. The rule is that ember stays under five per cent of any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12px rule came out of the typography review and it changed real pages: the crisis support numbers, the privacy notices and the giving page were all set too small and have been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built site, not a mock-up. Every screenshot in this deck is a real page rendered from the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your visit and Give are the two pages that carry the most weight. Giving is deliberately plain: no urgency, no guilt, and it states clearly that church giving is not tax deductible.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one named reviewer per language. That is the only thing standing between us and publishing them, and it is a job for people already in the congregation.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the numbers themselves, it is that they are enforced. Standards that are not enforced last about six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block approving the brand. The bank details and the redirect list are the two that block going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board approves tonight, the brand is final and the remaining work is operational. We would aim to switch the domain once the redirect list and the bank details are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1.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847"/>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light.png">    </p:cNvPr>
          <p:cNvPicPr>
            <a:picLocks noChangeAspect="1"/>
          </p:cNvPicPr>
          <p:nvPr/>
        </p:nvPicPr>
        <p:blipFill>
          <a:blip r:embed="rId1"/>
          <a:stretch>
            <a:fillRect/>
          </a:stretch>
        </p:blipFill>
        <p:spPr>
          <a:xfrm>
            <a:off x="777240" y="1417320"/>
            <a:ext cx="914400" cy="914400"/>
          </a:xfrm>
          <a:prstGeom prst="rect">
            <a:avLst/>
          </a:prstGeom>
        </p:spPr>
      </p:pic>
      <p:sp>
        <p:nvSpPr>
          <p:cNvPr id="3" name="Text 0"/>
          <p:cNvSpPr/>
          <p:nvPr/>
        </p:nvSpPr>
        <p:spPr>
          <a:xfrm>
            <a:off x="777240" y="2606040"/>
            <a:ext cx="8778240" cy="1737360"/>
          </a:xfrm>
          <a:prstGeom prst="rect">
            <a:avLst/>
          </a:prstGeom>
          <a:noFill/>
          <a:ln/>
        </p:spPr>
        <p:txBody>
          <a:bodyPr wrap="square" lIns="0" tIns="0" rIns="0" bIns="0" rtlCol="0" anchor="ctr"/>
          <a:lstStyle/>
          <a:p>
            <a:pPr indent="0" marL="0">
              <a:lnSpc>
                <a:spcPts val="4800"/>
              </a:lnSpc>
              <a:buNone/>
            </a:pPr>
            <a:r>
              <a:rPr lang="en-US" sz="4000" b="1" dirty="0">
                <a:solidFill>
                  <a:srgbClr val="F6F5F2"/>
                </a:solidFill>
                <a:latin typeface="Cambria" pitchFamily="34" charset="0"/>
                <a:ea typeface="Cambria" pitchFamily="34" charset="-122"/>
                <a:cs typeface="Cambria" pitchFamily="34" charset="-120"/>
              </a:rPr>
              <a:t>A new mark, a new voice,</a:t>
            </a:r>
            <a:endParaRPr lang="en-US" sz="4000" dirty="0"/>
          </a:p>
          <a:p>
            <a:pPr indent="0" marL="0">
              <a:lnSpc>
                <a:spcPts val="4800"/>
              </a:lnSpc>
              <a:buNone/>
            </a:pPr>
            <a:r>
              <a:rPr lang="en-US" sz="4000" b="1" dirty="0">
                <a:solidFill>
                  <a:srgbClr val="F6F5F2"/>
                </a:solidFill>
                <a:latin typeface="Cambria" pitchFamily="34" charset="0"/>
                <a:ea typeface="Cambria" pitchFamily="34" charset="-122"/>
                <a:cs typeface="Cambria" pitchFamily="34" charset="-120"/>
              </a:rPr>
              <a:t>a new website.</a:t>
            </a:r>
            <a:endParaRPr lang="en-US" sz="4000" dirty="0"/>
          </a:p>
        </p:txBody>
      </p:sp>
      <p:sp>
        <p:nvSpPr>
          <p:cNvPr id="4" name="Text 1"/>
          <p:cNvSpPr/>
          <p:nvPr/>
        </p:nvSpPr>
        <p:spPr>
          <a:xfrm>
            <a:off x="777240" y="4434840"/>
            <a:ext cx="8778240" cy="365760"/>
          </a:xfrm>
          <a:prstGeom prst="rect">
            <a:avLst/>
          </a:prstGeom>
          <a:noFill/>
          <a:ln/>
        </p:spPr>
        <p:txBody>
          <a:bodyPr wrap="square" lIns="0" tIns="0" rIns="0" bIns="0" rtlCol="0" anchor="ctr"/>
          <a:lstStyle/>
          <a:p>
            <a:pPr indent="0" marL="0">
              <a:buNone/>
            </a:pPr>
            <a:r>
              <a:rPr lang="en-US" sz="1500" dirty="0">
                <a:solidFill>
                  <a:srgbClr val="C7C3BC"/>
                </a:solidFill>
                <a:latin typeface="Calibri" pitchFamily="34" charset="0"/>
                <a:ea typeface="Calibri" pitchFamily="34" charset="-122"/>
                <a:cs typeface="Calibri" pitchFamily="34" charset="-120"/>
              </a:rPr>
              <a:t>The Transformation Edge  ·  for board approval</a:t>
            </a:r>
            <a:endParaRPr lang="en-US" sz="1500" dirty="0"/>
          </a:p>
        </p:txBody>
      </p:sp>
      <p:sp>
        <p:nvSpPr>
          <p:cNvPr id="5" name="Text 2"/>
          <p:cNvSpPr/>
          <p:nvPr/>
        </p:nvSpPr>
        <p:spPr>
          <a:xfrm>
            <a:off x="777240" y="5852160"/>
            <a:ext cx="8778240" cy="320040"/>
          </a:xfrm>
          <a:prstGeom prst="rect">
            <a:avLst/>
          </a:prstGeom>
          <a:noFill/>
          <a:ln/>
        </p:spPr>
        <p:txBody>
          <a:bodyPr wrap="square" lIns="0" tIns="0" rIns="0" bIns="0" rtlCol="0" anchor="ctr"/>
          <a:lstStyle/>
          <a:p>
            <a:pPr indent="0" marL="0">
              <a:buNone/>
            </a:pPr>
            <a:r>
              <a:rPr lang="en-US" sz="1200" dirty="0">
                <a:solidFill>
                  <a:srgbClr val="C7C3BC"/>
                </a:solidFill>
                <a:latin typeface="Calibri" pitchFamily="34" charset="0"/>
                <a:ea typeface="Calibri" pitchFamily="34" charset="-122"/>
                <a:cs typeface="Calibri" pitchFamily="34" charset="-120"/>
              </a:rPr>
              <a:t>Presented by Dr Michaels Aibangbee and Pastor Osas Aibangbee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WHAT WE ARE ASKING FOR</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Three approvals</a:t>
            </a:r>
            <a:endParaRPr lang="en-US" sz="3400" dirty="0"/>
          </a:p>
        </p:txBody>
      </p:sp>
      <p:sp>
        <p:nvSpPr>
          <p:cNvPr id="5" name="Shape 2"/>
          <p:cNvSpPr/>
          <p:nvPr/>
        </p:nvSpPr>
        <p:spPr>
          <a:xfrm>
            <a:off x="777240" y="1920240"/>
            <a:ext cx="566928" cy="566928"/>
          </a:xfrm>
          <a:prstGeom prst="ellipse">
            <a:avLst/>
          </a:prstGeom>
          <a:solidFill>
            <a:srgbClr val="303847"/>
          </a:solidFill>
          <a:ln/>
        </p:spPr>
      </p:sp>
      <p:sp>
        <p:nvSpPr>
          <p:cNvPr id="6" name="Text 3"/>
          <p:cNvSpPr/>
          <p:nvPr/>
        </p:nvSpPr>
        <p:spPr>
          <a:xfrm>
            <a:off x="777240" y="1920240"/>
            <a:ext cx="566928" cy="566928"/>
          </a:xfrm>
          <a:prstGeom prst="rect">
            <a:avLst/>
          </a:prstGeom>
          <a:noFill/>
          <a:ln/>
        </p:spPr>
        <p:txBody>
          <a:bodyPr wrap="square" lIns="0" tIns="0" rIns="0" bIns="0" rtlCol="0" anchor="ctr"/>
          <a:lstStyle/>
          <a:p>
            <a:pPr algn="ctr" indent="0" marL="0">
              <a:buNone/>
            </a:pPr>
            <a:r>
              <a:rPr lang="en-US" sz="2000" b="1" dirty="0">
                <a:solidFill>
                  <a:srgbClr val="F6F5F2"/>
                </a:solidFill>
                <a:latin typeface="Calibri" pitchFamily="34" charset="0"/>
                <a:ea typeface="Calibri" pitchFamily="34" charset="-122"/>
                <a:cs typeface="Calibri" pitchFamily="34" charset="-120"/>
              </a:rPr>
              <a:t>1</a:t>
            </a:r>
            <a:endParaRPr lang="en-US" sz="2000" dirty="0"/>
          </a:p>
        </p:txBody>
      </p:sp>
      <p:sp>
        <p:nvSpPr>
          <p:cNvPr id="7" name="Text 4"/>
          <p:cNvSpPr/>
          <p:nvPr/>
        </p:nvSpPr>
        <p:spPr>
          <a:xfrm>
            <a:off x="1691640" y="1883664"/>
            <a:ext cx="8686800" cy="365760"/>
          </a:xfrm>
          <a:prstGeom prst="rect">
            <a:avLst/>
          </a:prstGeom>
          <a:noFill/>
          <a:ln/>
        </p:spPr>
        <p:txBody>
          <a:bodyPr wrap="square" lIns="0" tIns="0" rIns="0" bIns="0" rtlCol="0" anchor="ctr"/>
          <a:lstStyle/>
          <a:p>
            <a:pPr indent="0" marL="0">
              <a:buNone/>
            </a:pPr>
            <a:r>
              <a:rPr lang="en-US" sz="2100" b="1" dirty="0">
                <a:solidFill>
                  <a:srgbClr val="171D24"/>
                </a:solidFill>
                <a:latin typeface="Cambria" pitchFamily="34" charset="0"/>
                <a:ea typeface="Cambria" pitchFamily="34" charset="-122"/>
                <a:cs typeface="Cambria" pitchFamily="34" charset="-120"/>
              </a:rPr>
              <a:t>The symbol</a:t>
            </a:r>
            <a:endParaRPr lang="en-US" sz="2100" dirty="0"/>
          </a:p>
        </p:txBody>
      </p:sp>
      <p:sp>
        <p:nvSpPr>
          <p:cNvPr id="8" name="Text 5"/>
          <p:cNvSpPr/>
          <p:nvPr/>
        </p:nvSpPr>
        <p:spPr>
          <a:xfrm>
            <a:off x="1691640" y="2304288"/>
            <a:ext cx="9326880" cy="502920"/>
          </a:xfrm>
          <a:prstGeom prst="rect">
            <a:avLst/>
          </a:prstGeom>
          <a:noFill/>
          <a:ln/>
        </p:spPr>
        <p:txBody>
          <a:bodyPr wrap="square" lIns="0" tIns="0" rIns="0" bIns="0" rtlCol="0" anchor="ctr"/>
          <a:lstStyle/>
          <a:p>
            <a:pPr indent="0" marL="0">
              <a:buNone/>
            </a:pPr>
            <a:r>
              <a:rPr lang="en-US" sz="1400" dirty="0">
                <a:solidFill>
                  <a:srgbClr val="5C5A56"/>
                </a:solidFill>
                <a:latin typeface="Calibri" pitchFamily="34" charset="0"/>
                <a:ea typeface="Calibri" pitchFamily="34" charset="-122"/>
                <a:cs typeface="Calibri" pitchFamily="34" charset="-120"/>
              </a:rPr>
              <a:t>A2 Architectural Threshold, and the masterbrand it belongs to.</a:t>
            </a:r>
            <a:endParaRPr lang="en-US" sz="1400" dirty="0"/>
          </a:p>
        </p:txBody>
      </p:sp>
      <p:sp>
        <p:nvSpPr>
          <p:cNvPr id="9" name="Shape 6"/>
          <p:cNvSpPr/>
          <p:nvPr/>
        </p:nvSpPr>
        <p:spPr>
          <a:xfrm>
            <a:off x="777240" y="3246120"/>
            <a:ext cx="566928" cy="566928"/>
          </a:xfrm>
          <a:prstGeom prst="ellipse">
            <a:avLst/>
          </a:prstGeom>
          <a:solidFill>
            <a:srgbClr val="303847"/>
          </a:solidFill>
          <a:ln/>
        </p:spPr>
      </p:sp>
      <p:sp>
        <p:nvSpPr>
          <p:cNvPr id="10" name="Text 7"/>
          <p:cNvSpPr/>
          <p:nvPr/>
        </p:nvSpPr>
        <p:spPr>
          <a:xfrm>
            <a:off x="777240" y="3246120"/>
            <a:ext cx="566928" cy="566928"/>
          </a:xfrm>
          <a:prstGeom prst="rect">
            <a:avLst/>
          </a:prstGeom>
          <a:noFill/>
          <a:ln/>
        </p:spPr>
        <p:txBody>
          <a:bodyPr wrap="square" lIns="0" tIns="0" rIns="0" bIns="0" rtlCol="0" anchor="ctr"/>
          <a:lstStyle/>
          <a:p>
            <a:pPr algn="ctr" indent="0" marL="0">
              <a:buNone/>
            </a:pPr>
            <a:r>
              <a:rPr lang="en-US" sz="2000" b="1" dirty="0">
                <a:solidFill>
                  <a:srgbClr val="F6F5F2"/>
                </a:solidFill>
                <a:latin typeface="Calibri" pitchFamily="34" charset="0"/>
                <a:ea typeface="Calibri" pitchFamily="34" charset="-122"/>
                <a:cs typeface="Calibri" pitchFamily="34" charset="-120"/>
              </a:rPr>
              <a:t>2</a:t>
            </a:r>
            <a:endParaRPr lang="en-US" sz="2000" dirty="0"/>
          </a:p>
        </p:txBody>
      </p:sp>
      <p:sp>
        <p:nvSpPr>
          <p:cNvPr id="11" name="Text 8"/>
          <p:cNvSpPr/>
          <p:nvPr/>
        </p:nvSpPr>
        <p:spPr>
          <a:xfrm>
            <a:off x="1691640" y="3209544"/>
            <a:ext cx="8686800" cy="365760"/>
          </a:xfrm>
          <a:prstGeom prst="rect">
            <a:avLst/>
          </a:prstGeom>
          <a:noFill/>
          <a:ln/>
        </p:spPr>
        <p:txBody>
          <a:bodyPr wrap="square" lIns="0" tIns="0" rIns="0" bIns="0" rtlCol="0" anchor="ctr"/>
          <a:lstStyle/>
          <a:p>
            <a:pPr indent="0" marL="0">
              <a:buNone/>
            </a:pPr>
            <a:r>
              <a:rPr lang="en-US" sz="2100" b="1" dirty="0">
                <a:solidFill>
                  <a:srgbClr val="171D24"/>
                </a:solidFill>
                <a:latin typeface="Cambria" pitchFamily="34" charset="0"/>
                <a:ea typeface="Cambria" pitchFamily="34" charset="-122"/>
                <a:cs typeface="Cambria" pitchFamily="34" charset="-120"/>
              </a:rPr>
              <a:t>The typography</a:t>
            </a:r>
            <a:endParaRPr lang="en-US" sz="2100" dirty="0"/>
          </a:p>
        </p:txBody>
      </p:sp>
      <p:sp>
        <p:nvSpPr>
          <p:cNvPr id="12" name="Text 9"/>
          <p:cNvSpPr/>
          <p:nvPr/>
        </p:nvSpPr>
        <p:spPr>
          <a:xfrm>
            <a:off x="1691640" y="3630168"/>
            <a:ext cx="9326880" cy="502920"/>
          </a:xfrm>
          <a:prstGeom prst="rect">
            <a:avLst/>
          </a:prstGeom>
          <a:noFill/>
          <a:ln/>
        </p:spPr>
        <p:txBody>
          <a:bodyPr wrap="square" lIns="0" tIns="0" rIns="0" bIns="0" rtlCol="0" anchor="ctr"/>
          <a:lstStyle/>
          <a:p>
            <a:pPr indent="0" marL="0">
              <a:buNone/>
            </a:pPr>
            <a:r>
              <a:rPr lang="en-US" sz="1400" dirty="0">
                <a:solidFill>
                  <a:srgbClr val="5C5A56"/>
                </a:solidFill>
                <a:latin typeface="Calibri" pitchFamily="34" charset="0"/>
                <a:ea typeface="Calibri" pitchFamily="34" charset="-122"/>
                <a:cs typeface="Calibri" pitchFamily="34" charset="-120"/>
              </a:rPr>
              <a:t>Fraunces for headings, Inter for everything else. Both open licence.</a:t>
            </a:r>
            <a:endParaRPr lang="en-US" sz="1400" dirty="0"/>
          </a:p>
        </p:txBody>
      </p:sp>
      <p:sp>
        <p:nvSpPr>
          <p:cNvPr id="13" name="Shape 10"/>
          <p:cNvSpPr/>
          <p:nvPr/>
        </p:nvSpPr>
        <p:spPr>
          <a:xfrm>
            <a:off x="777240" y="4572000"/>
            <a:ext cx="566928" cy="566928"/>
          </a:xfrm>
          <a:prstGeom prst="ellipse">
            <a:avLst/>
          </a:prstGeom>
          <a:solidFill>
            <a:srgbClr val="303847"/>
          </a:solidFill>
          <a:ln/>
        </p:spPr>
      </p:sp>
      <p:sp>
        <p:nvSpPr>
          <p:cNvPr id="14" name="Text 11"/>
          <p:cNvSpPr/>
          <p:nvPr/>
        </p:nvSpPr>
        <p:spPr>
          <a:xfrm>
            <a:off x="777240" y="4572000"/>
            <a:ext cx="566928" cy="566928"/>
          </a:xfrm>
          <a:prstGeom prst="rect">
            <a:avLst/>
          </a:prstGeom>
          <a:noFill/>
          <a:ln/>
        </p:spPr>
        <p:txBody>
          <a:bodyPr wrap="square" lIns="0" tIns="0" rIns="0" bIns="0" rtlCol="0" anchor="ctr"/>
          <a:lstStyle/>
          <a:p>
            <a:pPr algn="ctr" indent="0" marL="0">
              <a:buNone/>
            </a:pPr>
            <a:r>
              <a:rPr lang="en-US" sz="2000" b="1" dirty="0">
                <a:solidFill>
                  <a:srgbClr val="F6F5F2"/>
                </a:solidFill>
                <a:latin typeface="Calibri" pitchFamily="34" charset="0"/>
                <a:ea typeface="Calibri" pitchFamily="34" charset="-122"/>
                <a:cs typeface="Calibri" pitchFamily="34" charset="-120"/>
              </a:rPr>
              <a:t>3</a:t>
            </a:r>
            <a:endParaRPr lang="en-US" sz="2000" dirty="0"/>
          </a:p>
        </p:txBody>
      </p:sp>
      <p:sp>
        <p:nvSpPr>
          <p:cNvPr id="15" name="Text 12"/>
          <p:cNvSpPr/>
          <p:nvPr/>
        </p:nvSpPr>
        <p:spPr>
          <a:xfrm>
            <a:off x="1691640" y="4535424"/>
            <a:ext cx="8686800" cy="365760"/>
          </a:xfrm>
          <a:prstGeom prst="rect">
            <a:avLst/>
          </a:prstGeom>
          <a:noFill/>
          <a:ln/>
        </p:spPr>
        <p:txBody>
          <a:bodyPr wrap="square" lIns="0" tIns="0" rIns="0" bIns="0" rtlCol="0" anchor="ctr"/>
          <a:lstStyle/>
          <a:p>
            <a:pPr indent="0" marL="0">
              <a:buNone/>
            </a:pPr>
            <a:r>
              <a:rPr lang="en-US" sz="2100" b="1" dirty="0">
                <a:solidFill>
                  <a:srgbClr val="171D24"/>
                </a:solidFill>
                <a:latin typeface="Cambria" pitchFamily="34" charset="0"/>
                <a:ea typeface="Cambria" pitchFamily="34" charset="-122"/>
                <a:cs typeface="Cambria" pitchFamily="34" charset="-120"/>
              </a:rPr>
              <a:t>The website</a:t>
            </a:r>
            <a:endParaRPr lang="en-US" sz="2100" dirty="0"/>
          </a:p>
        </p:txBody>
      </p:sp>
      <p:sp>
        <p:nvSpPr>
          <p:cNvPr id="16" name="Text 13"/>
          <p:cNvSpPr/>
          <p:nvPr/>
        </p:nvSpPr>
        <p:spPr>
          <a:xfrm>
            <a:off x="1691640" y="4956048"/>
            <a:ext cx="9326880" cy="502920"/>
          </a:xfrm>
          <a:prstGeom prst="rect">
            <a:avLst/>
          </a:prstGeom>
          <a:noFill/>
          <a:ln/>
        </p:spPr>
        <p:txBody>
          <a:bodyPr wrap="square" lIns="0" tIns="0" rIns="0" bIns="0" rtlCol="0" anchor="ctr"/>
          <a:lstStyle/>
          <a:p>
            <a:pPr indent="0" marL="0">
              <a:buNone/>
            </a:pPr>
            <a:r>
              <a:rPr lang="en-US" sz="1400" dirty="0">
                <a:solidFill>
                  <a:srgbClr val="5C5A56"/>
                </a:solidFill>
                <a:latin typeface="Calibri" pitchFamily="34" charset="0"/>
                <a:ea typeface="Calibri" pitchFamily="34" charset="-122"/>
                <a:cs typeface="Calibri" pitchFamily="34" charset="-120"/>
              </a:rPr>
              <a:t>Approval to move off Wix and go live on the new site.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WHY CHANGE</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What was wrong with the old mark</a:t>
            </a:r>
            <a:endParaRPr lang="en-US" sz="3400" dirty="0"/>
          </a:p>
        </p:txBody>
      </p:sp>
      <p:pic>
        <p:nvPicPr>
          <p:cNvPr id="5" name="Image 1" descr="/tmp/claude-0/-home-user-The-TransEdge-Website/45782d4c-59e9-5edf-b365-d782549d70e6/scratchpad/deliverables/mark-old.png">    </p:cNvPr>
          <p:cNvPicPr>
            <a:picLocks noChangeAspect="1"/>
          </p:cNvPicPr>
          <p:nvPr/>
        </p:nvPicPr>
        <p:blipFill>
          <a:blip r:embed="rId2"/>
          <a:stretch>
            <a:fillRect/>
          </a:stretch>
        </p:blipFill>
        <p:spPr>
          <a:xfrm>
            <a:off x="777240" y="1965960"/>
            <a:ext cx="2286000" cy="2286000"/>
          </a:xfrm>
          <a:prstGeom prst="rect">
            <a:avLst/>
          </a:prstGeom>
        </p:spPr>
      </p:pic>
      <p:sp>
        <p:nvSpPr>
          <p:cNvPr id="6" name="Text 2"/>
          <p:cNvSpPr/>
          <p:nvPr/>
        </p:nvSpPr>
        <p:spPr>
          <a:xfrm>
            <a:off x="777240" y="4389120"/>
            <a:ext cx="2286000" cy="274320"/>
          </a:xfrm>
          <a:prstGeom prst="rect">
            <a:avLst/>
          </a:prstGeom>
          <a:noFill/>
          <a:ln/>
        </p:spPr>
        <p:txBody>
          <a:bodyPr wrap="square" lIns="0" tIns="0" rIns="0" bIns="0" rtlCol="0" anchor="ctr"/>
          <a:lstStyle/>
          <a:p>
            <a:pPr algn="ctr" indent="0" marL="0">
              <a:buNone/>
            </a:pPr>
            <a:r>
              <a:rPr lang="en-US" sz="1100" b="1" spc="120" kern="0" dirty="0">
                <a:solidFill>
                  <a:srgbClr val="5C5A56"/>
                </a:solidFill>
                <a:latin typeface="Calibri" pitchFamily="34" charset="0"/>
                <a:ea typeface="Calibri" pitchFamily="34" charset="-122"/>
                <a:cs typeface="Calibri" pitchFamily="34" charset="-120"/>
              </a:rPr>
              <a:t>The old mark</a:t>
            </a:r>
            <a:endParaRPr lang="en-US" sz="1100" dirty="0"/>
          </a:p>
        </p:txBody>
      </p:sp>
      <p:sp>
        <p:nvSpPr>
          <p:cNvPr id="7" name="Shape 3"/>
          <p:cNvSpPr/>
          <p:nvPr/>
        </p:nvSpPr>
        <p:spPr>
          <a:xfrm>
            <a:off x="3794760" y="2066544"/>
            <a:ext cx="182880" cy="182880"/>
          </a:xfrm>
          <a:prstGeom prst="ellipse">
            <a:avLst/>
          </a:prstGeom>
          <a:solidFill>
            <a:srgbClr val="E46F3C"/>
          </a:solidFill>
          <a:ln/>
        </p:spPr>
      </p:sp>
      <p:sp>
        <p:nvSpPr>
          <p:cNvPr id="8" name="Text 4"/>
          <p:cNvSpPr/>
          <p:nvPr/>
        </p:nvSpPr>
        <p:spPr>
          <a:xfrm>
            <a:off x="4206240" y="2011680"/>
            <a:ext cx="7223760" cy="566928"/>
          </a:xfrm>
          <a:prstGeom prst="rect">
            <a:avLst/>
          </a:prstGeom>
          <a:noFill/>
          <a:ln/>
        </p:spPr>
        <p:txBody>
          <a:bodyPr wrap="square" lIns="0" tIns="0" rIns="0" bIns="0" rtlCol="0" anchor="t"/>
          <a:lstStyle/>
          <a:p>
            <a:pPr indent="0" marL="0">
              <a:buNone/>
            </a:pPr>
            <a:r>
              <a:rPr lang="en-US" sz="1400" dirty="0">
                <a:solidFill>
                  <a:srgbClr val="171D24"/>
                </a:solidFill>
                <a:latin typeface="Calibri" pitchFamily="34" charset="0"/>
                <a:ea typeface="Calibri" pitchFamily="34" charset="-122"/>
                <a:cs typeface="Calibri" pitchFamily="34" charset="-120"/>
              </a:rPr>
              <a:t>The circle was decoration. It added no meaning and shrank everything inside it.</a:t>
            </a:r>
            <a:endParaRPr lang="en-US" sz="1400" dirty="0"/>
          </a:p>
        </p:txBody>
      </p:sp>
      <p:sp>
        <p:nvSpPr>
          <p:cNvPr id="9" name="Shape 5"/>
          <p:cNvSpPr/>
          <p:nvPr/>
        </p:nvSpPr>
        <p:spPr>
          <a:xfrm>
            <a:off x="3794760" y="2724912"/>
            <a:ext cx="182880" cy="182880"/>
          </a:xfrm>
          <a:prstGeom prst="ellipse">
            <a:avLst/>
          </a:prstGeom>
          <a:solidFill>
            <a:srgbClr val="E46F3C"/>
          </a:solidFill>
          <a:ln/>
        </p:spPr>
      </p:sp>
      <p:sp>
        <p:nvSpPr>
          <p:cNvPr id="10" name="Text 6"/>
          <p:cNvSpPr/>
          <p:nvPr/>
        </p:nvSpPr>
        <p:spPr>
          <a:xfrm>
            <a:off x="4206240" y="2670048"/>
            <a:ext cx="7223760" cy="566928"/>
          </a:xfrm>
          <a:prstGeom prst="rect">
            <a:avLst/>
          </a:prstGeom>
          <a:noFill/>
          <a:ln/>
        </p:spPr>
        <p:txBody>
          <a:bodyPr wrap="square" lIns="0" tIns="0" rIns="0" bIns="0" rtlCol="0" anchor="t"/>
          <a:lstStyle/>
          <a:p>
            <a:pPr indent="0" marL="0">
              <a:buNone/>
            </a:pPr>
            <a:r>
              <a:rPr lang="en-US" sz="1400" dirty="0">
                <a:solidFill>
                  <a:srgbClr val="171D24"/>
                </a:solidFill>
                <a:latin typeface="Calibri" pitchFamily="34" charset="0"/>
                <a:ea typeface="Calibri" pitchFamily="34" charset="-122"/>
                <a:cs typeface="Calibri" pitchFamily="34" charset="-120"/>
              </a:rPr>
              <a:t>The monogram read EGDE left to right. English readers read left to right first.</a:t>
            </a:r>
            <a:endParaRPr lang="en-US" sz="1400" dirty="0"/>
          </a:p>
        </p:txBody>
      </p:sp>
      <p:sp>
        <p:nvSpPr>
          <p:cNvPr id="11" name="Shape 7"/>
          <p:cNvSpPr/>
          <p:nvPr/>
        </p:nvSpPr>
        <p:spPr>
          <a:xfrm>
            <a:off x="3794760" y="3383280"/>
            <a:ext cx="182880" cy="182880"/>
          </a:xfrm>
          <a:prstGeom prst="ellipse">
            <a:avLst/>
          </a:prstGeom>
          <a:solidFill>
            <a:srgbClr val="E46F3C"/>
          </a:solidFill>
          <a:ln/>
        </p:spPr>
      </p:sp>
      <p:sp>
        <p:nvSpPr>
          <p:cNvPr id="12" name="Text 8"/>
          <p:cNvSpPr/>
          <p:nvPr/>
        </p:nvSpPr>
        <p:spPr>
          <a:xfrm>
            <a:off x="4206240" y="3328416"/>
            <a:ext cx="7223760" cy="566928"/>
          </a:xfrm>
          <a:prstGeom prst="rect">
            <a:avLst/>
          </a:prstGeom>
          <a:noFill/>
          <a:ln/>
        </p:spPr>
        <p:txBody>
          <a:bodyPr wrap="square" lIns="0" tIns="0" rIns="0" bIns="0" rtlCol="0" anchor="t"/>
          <a:lstStyle/>
          <a:p>
            <a:pPr indent="0" marL="0">
              <a:buNone/>
            </a:pPr>
            <a:r>
              <a:rPr lang="en-US" sz="1400" dirty="0">
                <a:solidFill>
                  <a:srgbClr val="171D24"/>
                </a:solidFill>
                <a:latin typeface="Calibri" pitchFamily="34" charset="0"/>
                <a:ea typeface="Calibri" pitchFamily="34" charset="-122"/>
                <a:cs typeface="Calibri" pitchFamily="34" charset="-120"/>
              </a:rPr>
              <a:t>Five elements competed, and none could stand alone as an icon.</a:t>
            </a:r>
            <a:endParaRPr lang="en-US" sz="1400" dirty="0"/>
          </a:p>
        </p:txBody>
      </p:sp>
      <p:sp>
        <p:nvSpPr>
          <p:cNvPr id="13" name="Shape 9"/>
          <p:cNvSpPr/>
          <p:nvPr/>
        </p:nvSpPr>
        <p:spPr>
          <a:xfrm>
            <a:off x="3794760" y="4041648"/>
            <a:ext cx="182880" cy="182880"/>
          </a:xfrm>
          <a:prstGeom prst="ellipse">
            <a:avLst/>
          </a:prstGeom>
          <a:solidFill>
            <a:srgbClr val="E46F3C"/>
          </a:solidFill>
          <a:ln/>
        </p:spPr>
      </p:sp>
      <p:sp>
        <p:nvSpPr>
          <p:cNvPr id="14" name="Text 10"/>
          <p:cNvSpPr/>
          <p:nvPr/>
        </p:nvSpPr>
        <p:spPr>
          <a:xfrm>
            <a:off x="4206240" y="3986784"/>
            <a:ext cx="7223760" cy="566928"/>
          </a:xfrm>
          <a:prstGeom prst="rect">
            <a:avLst/>
          </a:prstGeom>
          <a:noFill/>
          <a:ln/>
        </p:spPr>
        <p:txBody>
          <a:bodyPr wrap="square" lIns="0" tIns="0" rIns="0" bIns="0" rtlCol="0" anchor="t"/>
          <a:lstStyle/>
          <a:p>
            <a:pPr indent="0" marL="0">
              <a:buNone/>
            </a:pPr>
            <a:r>
              <a:rPr lang="en-US" sz="1400" dirty="0">
                <a:solidFill>
                  <a:srgbClr val="171D24"/>
                </a:solidFill>
                <a:latin typeface="Calibri" pitchFamily="34" charset="0"/>
                <a:ea typeface="Calibri" pitchFamily="34" charset="-122"/>
                <a:cs typeface="Calibri" pitchFamily="34" charset="-120"/>
              </a:rPr>
              <a:t>The palette was cool and flat, reading corporate rather than warm.</a:t>
            </a:r>
            <a:endParaRPr lang="en-US" sz="1400" dirty="0"/>
          </a:p>
        </p:txBody>
      </p:sp>
      <p:sp>
        <p:nvSpPr>
          <p:cNvPr id="15" name="Shape 11"/>
          <p:cNvSpPr/>
          <p:nvPr/>
        </p:nvSpPr>
        <p:spPr>
          <a:xfrm>
            <a:off x="3794760" y="4700016"/>
            <a:ext cx="182880" cy="182880"/>
          </a:xfrm>
          <a:prstGeom prst="ellipse">
            <a:avLst/>
          </a:prstGeom>
          <a:solidFill>
            <a:srgbClr val="E46F3C"/>
          </a:solidFill>
          <a:ln/>
        </p:spPr>
      </p:sp>
      <p:sp>
        <p:nvSpPr>
          <p:cNvPr id="16" name="Text 12"/>
          <p:cNvSpPr/>
          <p:nvPr/>
        </p:nvSpPr>
        <p:spPr>
          <a:xfrm>
            <a:off x="4206240" y="4645152"/>
            <a:ext cx="7223760" cy="566928"/>
          </a:xfrm>
          <a:prstGeom prst="rect">
            <a:avLst/>
          </a:prstGeom>
          <a:noFill/>
          <a:ln/>
        </p:spPr>
        <p:txBody>
          <a:bodyPr wrap="square" lIns="0" tIns="0" rIns="0" bIns="0" rtlCol="0" anchor="t"/>
          <a:lstStyle/>
          <a:p>
            <a:pPr indent="0" marL="0">
              <a:buNone/>
            </a:pPr>
            <a:r>
              <a:rPr lang="en-US" sz="1400" dirty="0">
                <a:solidFill>
                  <a:srgbClr val="171D24"/>
                </a:solidFill>
                <a:latin typeface="Calibri" pitchFamily="34" charset="0"/>
                <a:ea typeface="Calibri" pitchFamily="34" charset="-122"/>
                <a:cs typeface="Calibri" pitchFamily="34" charset="-120"/>
              </a:rPr>
              <a:t>There was no reversed, single-colour, dark-mode or app-icon version.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03847"/>
        </a:solidFill>
      </p:bgPr>
    </p:bg>
    <p:spTree>
      <p:nvGrpSpPr>
        <p:cNvPr id="1" name=""/>
        <p:cNvGrpSpPr/>
        <p:nvPr/>
      </p:nvGrpSpPr>
      <p:grpSpPr>
        <a:xfrm>
          <a:off x="0" y="0"/>
          <a:ext cx="0" cy="0"/>
          <a:chOff x="0" y="0"/>
          <a:chExt cx="0" cy="0"/>
        </a:xfrm>
      </p:grpSpPr>
      <p:sp>
        <p:nvSpPr>
          <p:cNvPr id="2"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C7C3BC"/>
                </a:solidFill>
                <a:latin typeface="Calibri" pitchFamily="34" charset="0"/>
                <a:ea typeface="Calibri" pitchFamily="34" charset="-122"/>
                <a:cs typeface="Calibri" pitchFamily="34" charset="-120"/>
              </a:rPr>
              <a:t>THE SYMBOL</a:t>
            </a:r>
            <a:endParaRPr lang="en-US" sz="1100" dirty="0"/>
          </a:p>
        </p:txBody>
      </p:sp>
      <p:sp>
        <p:nvSpPr>
          <p:cNvPr id="3"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F6F5F2"/>
                </a:solidFill>
                <a:latin typeface="Cambria" pitchFamily="34" charset="0"/>
                <a:ea typeface="Cambria" pitchFamily="34" charset="-122"/>
                <a:cs typeface="Cambria" pitchFamily="34" charset="-120"/>
              </a:rPr>
              <a:t>A2 Architectural Threshold</a:t>
            </a:r>
            <a:endParaRPr lang="en-US" sz="3400" dirty="0"/>
          </a:p>
        </p:txBody>
      </p:sp>
      <p:pic>
        <p:nvPicPr>
          <p:cNvPr id="4" name="Image 0" descr="/tmp/claude-0/-home-user-The-TransEdge-Website/45782d4c-59e9-5edf-b365-d782549d70e6/scratchpad/deliverables/mark-light.png">    </p:cNvPr>
          <p:cNvPicPr>
            <a:picLocks noChangeAspect="1"/>
          </p:cNvPicPr>
          <p:nvPr/>
        </p:nvPicPr>
        <p:blipFill>
          <a:blip r:embed="rId1"/>
          <a:stretch>
            <a:fillRect/>
          </a:stretch>
        </p:blipFill>
        <p:spPr>
          <a:xfrm>
            <a:off x="7680960" y="2011680"/>
            <a:ext cx="3108960" cy="3108960"/>
          </a:xfrm>
          <a:prstGeom prst="rect">
            <a:avLst/>
          </a:prstGeom>
        </p:spPr>
      </p:pic>
      <p:sp>
        <p:nvSpPr>
          <p:cNvPr id="5" name="Text 2"/>
          <p:cNvSpPr/>
          <p:nvPr/>
        </p:nvSpPr>
        <p:spPr>
          <a:xfrm>
            <a:off x="777240" y="1965960"/>
            <a:ext cx="6400800" cy="822960"/>
          </a:xfrm>
          <a:prstGeom prst="rect">
            <a:avLst/>
          </a:prstGeom>
          <a:noFill/>
          <a:ln/>
        </p:spPr>
        <p:txBody>
          <a:bodyPr wrap="square" lIns="0" tIns="0" rIns="0" bIns="0" rtlCol="0" anchor="ctr"/>
          <a:lstStyle/>
          <a:p>
            <a:pPr indent="0" marL="0">
              <a:buNone/>
            </a:pPr>
            <a:r>
              <a:rPr lang="en-US" sz="2200" dirty="0">
                <a:solidFill>
                  <a:srgbClr val="F6F5F2"/>
                </a:solidFill>
                <a:latin typeface="Cambria" pitchFamily="34" charset="0"/>
                <a:ea typeface="Cambria" pitchFamily="34" charset="-122"/>
                <a:cs typeface="Cambria" pitchFamily="34" charset="-120"/>
              </a:rPr>
              <a:t>Two planes standing apart, with the way through between them.</a:t>
            </a:r>
            <a:endParaRPr lang="en-US" sz="2200" dirty="0"/>
          </a:p>
        </p:txBody>
      </p:sp>
      <p:sp>
        <p:nvSpPr>
          <p:cNvPr id="6" name="Text 3"/>
          <p:cNvSpPr/>
          <p:nvPr/>
        </p:nvSpPr>
        <p:spPr>
          <a:xfrm>
            <a:off x="777240" y="3063240"/>
            <a:ext cx="640080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C7C3BC"/>
                </a:solidFill>
                <a:latin typeface="Calibri" pitchFamily="34" charset="0"/>
                <a:ea typeface="Calibri" pitchFamily="34" charset="-122"/>
                <a:cs typeface="Calibri" pitchFamily="34" charset="-120"/>
              </a:rPr>
              <a:t>No letterform, so it cannot be misread.</a:t>
            </a:r>
            <a:endParaRPr lang="en-US" sz="1400" dirty="0"/>
          </a:p>
          <a:p>
            <a:pPr marL="342900" indent="-342900">
              <a:spcAft>
                <a:spcPts val="1000"/>
              </a:spcAft>
              <a:buSzPct val="100000"/>
              <a:buChar char="•"/>
            </a:pPr>
            <a:r>
              <a:rPr lang="en-US" sz="1400" dirty="0">
                <a:solidFill>
                  <a:srgbClr val="C7C3BC"/>
                </a:solidFill>
                <a:latin typeface="Calibri" pitchFamily="34" charset="0"/>
                <a:ea typeface="Calibri" pitchFamily="34" charset="-122"/>
                <a:cs typeface="Calibri" pitchFamily="34" charset="-120"/>
              </a:rPr>
              <a:t>No containing circle, so it never shrinks inside its own frame.</a:t>
            </a:r>
            <a:endParaRPr lang="en-US" sz="1400" dirty="0"/>
          </a:p>
          <a:p>
            <a:pPr marL="342900" indent="-342900">
              <a:spcAft>
                <a:spcPts val="1000"/>
              </a:spcAft>
              <a:buSzPct val="100000"/>
              <a:buChar char="•"/>
            </a:pPr>
            <a:r>
              <a:rPr lang="en-US" sz="1400" dirty="0">
                <a:solidFill>
                  <a:srgbClr val="C7C3BC"/>
                </a:solidFill>
                <a:latin typeface="Calibri" pitchFamily="34" charset="0"/>
                <a:ea typeface="Calibri" pitchFamily="34" charset="-122"/>
                <a:cs typeface="Calibri" pitchFamily="34" charset="-120"/>
              </a:rPr>
              <a:t>One colour, always. Deep Slate on light, porcelain reversed on dark.</a:t>
            </a:r>
            <a:endParaRPr lang="en-US" sz="1400" dirty="0"/>
          </a:p>
          <a:p>
            <a:pPr marL="342900" indent="-342900">
              <a:spcAft>
                <a:spcPts val="1000"/>
              </a:spcAft>
              <a:buSzPct val="100000"/>
              <a:buChar char="•"/>
            </a:pPr>
            <a:r>
              <a:rPr lang="en-US" sz="1400" dirty="0">
                <a:solidFill>
                  <a:srgbClr val="C7C3BC"/>
                </a:solidFill>
                <a:latin typeface="Calibri" pitchFamily="34" charset="0"/>
                <a:ea typeface="Calibri" pitchFamily="34" charset="-122"/>
                <a:cs typeface="Calibri" pitchFamily="34" charset="-120"/>
              </a:rPr>
              <a:t>The gap is the threshold. It is never closed up to look tidier.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IT WORKS EVERYWHERE</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Legible at every size</a:t>
            </a:r>
            <a:endParaRPr lang="en-US" sz="3400" dirty="0"/>
          </a:p>
        </p:txBody>
      </p:sp>
      <p:pic>
        <p:nvPicPr>
          <p:cNvPr id="5" name="Image 1" descr="/tmp/claude-0/-home-user-The-TransEdge-Website/45782d4c-59e9-5edf-b365-d782549d70e6/scratchpad/deliverables/mark-slate.png">    </p:cNvPr>
          <p:cNvPicPr>
            <a:picLocks noChangeAspect="1"/>
          </p:cNvPicPr>
          <p:nvPr/>
        </p:nvPicPr>
        <p:blipFill>
          <a:blip r:embed="rId2"/>
          <a:stretch>
            <a:fillRect/>
          </a:stretch>
        </p:blipFill>
        <p:spPr>
          <a:xfrm>
            <a:off x="777240" y="3008376"/>
            <a:ext cx="201168" cy="201168"/>
          </a:xfrm>
          <a:prstGeom prst="rect">
            <a:avLst/>
          </a:prstGeom>
        </p:spPr>
      </p:pic>
      <p:sp>
        <p:nvSpPr>
          <p:cNvPr id="6" name="Text 2"/>
          <p:cNvSpPr/>
          <p:nvPr/>
        </p:nvSpPr>
        <p:spPr>
          <a:xfrm>
            <a:off x="548640" y="4343400"/>
            <a:ext cx="658368"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16px</a:t>
            </a:r>
            <a:endParaRPr lang="en-US" sz="1000" dirty="0"/>
          </a:p>
        </p:txBody>
      </p:sp>
      <p:pic>
        <p:nvPicPr>
          <p:cNvPr id="7" name="Image 2" descr="/tmp/claude-0/-home-user-The-TransEdge-Website/45782d4c-59e9-5edf-b365-d782549d70e6/scratchpad/deliverables/mark-slate.png">    </p:cNvPr>
          <p:cNvPicPr>
            <a:picLocks noChangeAspect="1"/>
          </p:cNvPicPr>
          <p:nvPr/>
        </p:nvPicPr>
        <p:blipFill>
          <a:blip r:embed="rId3"/>
          <a:stretch>
            <a:fillRect/>
          </a:stretch>
        </p:blipFill>
        <p:spPr>
          <a:xfrm>
            <a:off x="1664208" y="2953512"/>
            <a:ext cx="310896" cy="310896"/>
          </a:xfrm>
          <a:prstGeom prst="rect">
            <a:avLst/>
          </a:prstGeom>
        </p:spPr>
      </p:pic>
      <p:sp>
        <p:nvSpPr>
          <p:cNvPr id="8" name="Text 3"/>
          <p:cNvSpPr/>
          <p:nvPr/>
        </p:nvSpPr>
        <p:spPr>
          <a:xfrm>
            <a:off x="1435608" y="4343400"/>
            <a:ext cx="768096"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24px</a:t>
            </a:r>
            <a:endParaRPr lang="en-US" sz="1000" dirty="0"/>
          </a:p>
        </p:txBody>
      </p:sp>
      <p:pic>
        <p:nvPicPr>
          <p:cNvPr id="9" name="Image 3" descr="/tmp/claude-0/-home-user-The-TransEdge-Website/45782d4c-59e9-5edf-b365-d782549d70e6/scratchpad/deliverables/mark-slate.png">    </p:cNvPr>
          <p:cNvPicPr>
            <a:picLocks noChangeAspect="1"/>
          </p:cNvPicPr>
          <p:nvPr/>
        </p:nvPicPr>
        <p:blipFill>
          <a:blip r:embed="rId4"/>
          <a:stretch>
            <a:fillRect/>
          </a:stretch>
        </p:blipFill>
        <p:spPr>
          <a:xfrm>
            <a:off x="2660904" y="2880360"/>
            <a:ext cx="457200" cy="457200"/>
          </a:xfrm>
          <a:prstGeom prst="rect">
            <a:avLst/>
          </a:prstGeom>
        </p:spPr>
      </p:pic>
      <p:sp>
        <p:nvSpPr>
          <p:cNvPr id="10" name="Text 4"/>
          <p:cNvSpPr/>
          <p:nvPr/>
        </p:nvSpPr>
        <p:spPr>
          <a:xfrm>
            <a:off x="2432304" y="4343400"/>
            <a:ext cx="914400"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32px</a:t>
            </a:r>
            <a:endParaRPr lang="en-US" sz="1000" dirty="0"/>
          </a:p>
        </p:txBody>
      </p:sp>
      <p:pic>
        <p:nvPicPr>
          <p:cNvPr id="11" name="Image 4" descr="/tmp/claude-0/-home-user-The-TransEdge-Website/45782d4c-59e9-5edf-b365-d782549d70e6/scratchpad/deliverables/mark-slate.png">    </p:cNvPr>
          <p:cNvPicPr>
            <a:picLocks noChangeAspect="1"/>
          </p:cNvPicPr>
          <p:nvPr/>
        </p:nvPicPr>
        <p:blipFill>
          <a:blip r:embed="rId5"/>
          <a:stretch>
            <a:fillRect/>
          </a:stretch>
        </p:blipFill>
        <p:spPr>
          <a:xfrm>
            <a:off x="3803904" y="2743200"/>
            <a:ext cx="731520" cy="731520"/>
          </a:xfrm>
          <a:prstGeom prst="rect">
            <a:avLst/>
          </a:prstGeom>
        </p:spPr>
      </p:pic>
      <p:sp>
        <p:nvSpPr>
          <p:cNvPr id="12" name="Text 5"/>
          <p:cNvSpPr/>
          <p:nvPr/>
        </p:nvSpPr>
        <p:spPr>
          <a:xfrm>
            <a:off x="3575304" y="4343400"/>
            <a:ext cx="1188720"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48px</a:t>
            </a:r>
            <a:endParaRPr lang="en-US" sz="1000" dirty="0"/>
          </a:p>
        </p:txBody>
      </p:sp>
      <p:pic>
        <p:nvPicPr>
          <p:cNvPr id="13" name="Image 5" descr="/tmp/claude-0/-home-user-The-TransEdge-Website/45782d4c-59e9-5edf-b365-d782549d70e6/scratchpad/deliverables/mark-slate.png">    </p:cNvPr>
          <p:cNvPicPr>
            <a:picLocks noChangeAspect="1"/>
          </p:cNvPicPr>
          <p:nvPr/>
        </p:nvPicPr>
        <p:blipFill>
          <a:blip r:embed="rId6"/>
          <a:stretch>
            <a:fillRect/>
          </a:stretch>
        </p:blipFill>
        <p:spPr>
          <a:xfrm>
            <a:off x="5221224" y="2468880"/>
            <a:ext cx="1280160" cy="1280160"/>
          </a:xfrm>
          <a:prstGeom prst="rect">
            <a:avLst/>
          </a:prstGeom>
        </p:spPr>
      </p:pic>
      <p:sp>
        <p:nvSpPr>
          <p:cNvPr id="14" name="Text 6"/>
          <p:cNvSpPr/>
          <p:nvPr/>
        </p:nvSpPr>
        <p:spPr>
          <a:xfrm>
            <a:off x="4992624" y="4343400"/>
            <a:ext cx="1737360"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96px</a:t>
            </a:r>
            <a:endParaRPr lang="en-US" sz="1000" dirty="0"/>
          </a:p>
        </p:txBody>
      </p:sp>
      <p:pic>
        <p:nvPicPr>
          <p:cNvPr id="15" name="Image 6" descr="/tmp/claude-0/-home-user-The-TransEdge-Website/45782d4c-59e9-5edf-b365-d782549d70e6/scratchpad/deliverables/mark-slate.png">    </p:cNvPr>
          <p:cNvPicPr>
            <a:picLocks noChangeAspect="1"/>
          </p:cNvPicPr>
          <p:nvPr/>
        </p:nvPicPr>
        <p:blipFill>
          <a:blip r:embed="rId7"/>
          <a:stretch>
            <a:fillRect/>
          </a:stretch>
        </p:blipFill>
        <p:spPr>
          <a:xfrm>
            <a:off x="7187184" y="2103120"/>
            <a:ext cx="2011680" cy="2011680"/>
          </a:xfrm>
          <a:prstGeom prst="rect">
            <a:avLst/>
          </a:prstGeom>
        </p:spPr>
      </p:pic>
      <p:sp>
        <p:nvSpPr>
          <p:cNvPr id="16" name="Text 7"/>
          <p:cNvSpPr/>
          <p:nvPr/>
        </p:nvSpPr>
        <p:spPr>
          <a:xfrm>
            <a:off x="6958584" y="4343400"/>
            <a:ext cx="2468880" cy="256032"/>
          </a:xfrm>
          <a:prstGeom prst="rect">
            <a:avLst/>
          </a:prstGeom>
          <a:noFill/>
          <a:ln/>
        </p:spPr>
        <p:txBody>
          <a:bodyPr wrap="square" lIns="0" tIns="0" rIns="0" bIns="0" rtlCol="0" anchor="ctr"/>
          <a:lstStyle/>
          <a:p>
            <a:pPr algn="ctr" indent="0" marL="0">
              <a:buNone/>
            </a:pPr>
            <a:r>
              <a:rPr lang="en-US" sz="1000" dirty="0">
                <a:solidFill>
                  <a:srgbClr val="5C5A56"/>
                </a:solidFill>
                <a:latin typeface="Calibri" pitchFamily="34" charset="0"/>
                <a:ea typeface="Calibri" pitchFamily="34" charset="-122"/>
                <a:cs typeface="Calibri" pitchFamily="34" charset="-120"/>
              </a:rPr>
              <a:t>144px</a:t>
            </a:r>
            <a:endParaRPr lang="en-US" sz="1000" dirty="0"/>
          </a:p>
        </p:txBody>
      </p:sp>
      <p:sp>
        <p:nvSpPr>
          <p:cNvPr id="17" name="Text 8"/>
          <p:cNvSpPr/>
          <p:nvPr/>
        </p:nvSpPr>
        <p:spPr>
          <a:xfrm>
            <a:off x="777240" y="5029200"/>
            <a:ext cx="9601200" cy="548640"/>
          </a:xfrm>
          <a:prstGeom prst="rect">
            <a:avLst/>
          </a:prstGeom>
          <a:noFill/>
          <a:ln/>
        </p:spPr>
        <p:txBody>
          <a:bodyPr wrap="square" lIns="0" tIns="0" rIns="0" bIns="0" rtlCol="0" anchor="ctr"/>
          <a:lstStyle/>
          <a:p>
            <a:pPr indent="0" marL="0">
              <a:buNone/>
            </a:pPr>
            <a:r>
              <a:rPr lang="en-US" sz="1400" dirty="0">
                <a:solidFill>
                  <a:srgbClr val="5C5A56"/>
                </a:solidFill>
                <a:latin typeface="Calibri" pitchFamily="34" charset="0"/>
                <a:ea typeface="Calibri" pitchFamily="34" charset="-122"/>
                <a:cs typeface="Calibri" pitchFamily="34" charset="-120"/>
              </a:rPr>
              <a:t>The old lockup was illegible below about 90px. This holds at 16px, which is the size of a browser tab.</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COLOUR</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Warmth the old palette did not have</a:t>
            </a:r>
            <a:endParaRPr lang="en-US" sz="3400" dirty="0"/>
          </a:p>
        </p:txBody>
      </p:sp>
      <p:sp>
        <p:nvSpPr>
          <p:cNvPr id="5" name="Shape 2"/>
          <p:cNvSpPr/>
          <p:nvPr/>
        </p:nvSpPr>
        <p:spPr>
          <a:xfrm>
            <a:off x="777240" y="1874520"/>
            <a:ext cx="3200400" cy="1691640"/>
          </a:xfrm>
          <a:prstGeom prst="rect">
            <a:avLst/>
          </a:prstGeom>
          <a:solidFill>
            <a:srgbClr val="303847"/>
          </a:solidFill>
          <a:ln/>
        </p:spPr>
      </p:sp>
      <p:sp>
        <p:nvSpPr>
          <p:cNvPr id="6" name="Text 3"/>
          <p:cNvSpPr/>
          <p:nvPr/>
        </p:nvSpPr>
        <p:spPr>
          <a:xfrm>
            <a:off x="978408" y="2788920"/>
            <a:ext cx="2834640" cy="27432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Deep Slate</a:t>
            </a:r>
            <a:endParaRPr lang="en-US" sz="1300" dirty="0"/>
          </a:p>
        </p:txBody>
      </p:sp>
      <p:sp>
        <p:nvSpPr>
          <p:cNvPr id="7" name="Text 4"/>
          <p:cNvSpPr/>
          <p:nvPr/>
        </p:nvSpPr>
        <p:spPr>
          <a:xfrm>
            <a:off x="978408" y="3063240"/>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ourier New" pitchFamily="34" charset="0"/>
                <a:ea typeface="Courier New" pitchFamily="34" charset="-122"/>
                <a:cs typeface="Courier New" pitchFamily="34" charset="-120"/>
              </a:rPr>
              <a:t>#303847</a:t>
            </a:r>
            <a:endParaRPr lang="en-US" sz="1000" dirty="0"/>
          </a:p>
        </p:txBody>
      </p:sp>
      <p:sp>
        <p:nvSpPr>
          <p:cNvPr id="8" name="Text 5"/>
          <p:cNvSpPr/>
          <p:nvPr/>
        </p:nvSpPr>
        <p:spPr>
          <a:xfrm>
            <a:off x="978408" y="3273552"/>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alibri" pitchFamily="34" charset="0"/>
                <a:ea typeface="Calibri" pitchFamily="34" charset="-122"/>
                <a:cs typeface="Calibri" pitchFamily="34" charset="-120"/>
              </a:rPr>
              <a:t>The identity</a:t>
            </a:r>
            <a:endParaRPr lang="en-US" sz="1000" dirty="0"/>
          </a:p>
        </p:txBody>
      </p:sp>
      <p:sp>
        <p:nvSpPr>
          <p:cNvPr id="9" name="Shape 6"/>
          <p:cNvSpPr/>
          <p:nvPr/>
        </p:nvSpPr>
        <p:spPr>
          <a:xfrm>
            <a:off x="4389120" y="1874520"/>
            <a:ext cx="3200400" cy="1691640"/>
          </a:xfrm>
          <a:prstGeom prst="rect">
            <a:avLst/>
          </a:prstGeom>
          <a:solidFill>
            <a:srgbClr val="4B576E"/>
          </a:solidFill>
          <a:ln/>
        </p:spPr>
      </p:sp>
      <p:sp>
        <p:nvSpPr>
          <p:cNvPr id="10" name="Text 7"/>
          <p:cNvSpPr/>
          <p:nvPr/>
        </p:nvSpPr>
        <p:spPr>
          <a:xfrm>
            <a:off x="4590288" y="2788920"/>
            <a:ext cx="2834640" cy="27432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Heritage Slate</a:t>
            </a:r>
            <a:endParaRPr lang="en-US" sz="1300" dirty="0"/>
          </a:p>
        </p:txBody>
      </p:sp>
      <p:sp>
        <p:nvSpPr>
          <p:cNvPr id="11" name="Text 8"/>
          <p:cNvSpPr/>
          <p:nvPr/>
        </p:nvSpPr>
        <p:spPr>
          <a:xfrm>
            <a:off x="4590288" y="3063240"/>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ourier New" pitchFamily="34" charset="0"/>
                <a:ea typeface="Courier New" pitchFamily="34" charset="-122"/>
                <a:cs typeface="Courier New" pitchFamily="34" charset="-120"/>
              </a:rPr>
              <a:t>#4B576E</a:t>
            </a:r>
            <a:endParaRPr lang="en-US" sz="1000" dirty="0"/>
          </a:p>
        </p:txBody>
      </p:sp>
      <p:sp>
        <p:nvSpPr>
          <p:cNvPr id="12" name="Text 9"/>
          <p:cNvSpPr/>
          <p:nvPr/>
        </p:nvSpPr>
        <p:spPr>
          <a:xfrm>
            <a:off x="4590288" y="3273552"/>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alibri" pitchFamily="34" charset="0"/>
                <a:ea typeface="Calibri" pitchFamily="34" charset="-122"/>
                <a:cs typeface="Calibri" pitchFamily="34" charset="-120"/>
              </a:rPr>
              <a:t>Carried forward</a:t>
            </a:r>
            <a:endParaRPr lang="en-US" sz="1000" dirty="0"/>
          </a:p>
        </p:txBody>
      </p:sp>
      <p:sp>
        <p:nvSpPr>
          <p:cNvPr id="13" name="Shape 10"/>
          <p:cNvSpPr/>
          <p:nvPr/>
        </p:nvSpPr>
        <p:spPr>
          <a:xfrm>
            <a:off x="8001000" y="1874520"/>
            <a:ext cx="3200400" cy="1691640"/>
          </a:xfrm>
          <a:prstGeom prst="rect">
            <a:avLst/>
          </a:prstGeom>
          <a:solidFill>
            <a:srgbClr val="E46F3C"/>
          </a:solidFill>
          <a:ln/>
        </p:spPr>
      </p:sp>
      <p:sp>
        <p:nvSpPr>
          <p:cNvPr id="14" name="Text 11"/>
          <p:cNvSpPr/>
          <p:nvPr/>
        </p:nvSpPr>
        <p:spPr>
          <a:xfrm>
            <a:off x="8202168" y="2788920"/>
            <a:ext cx="2834640" cy="274320"/>
          </a:xfrm>
          <a:prstGeom prst="rect">
            <a:avLst/>
          </a:prstGeom>
          <a:noFill/>
          <a:ln/>
        </p:spPr>
        <p:txBody>
          <a:bodyPr wrap="square" lIns="0" tIns="0" rIns="0" bIns="0" rtlCol="0" anchor="ctr"/>
          <a:lstStyle/>
          <a:p>
            <a:pPr indent="0" marL="0">
              <a:buNone/>
            </a:pPr>
            <a:r>
              <a:rPr lang="en-US" sz="1300" b="1" dirty="0">
                <a:solidFill>
                  <a:srgbClr val="171D24"/>
                </a:solidFill>
                <a:latin typeface="Calibri" pitchFamily="34" charset="0"/>
                <a:ea typeface="Calibri" pitchFamily="34" charset="-122"/>
                <a:cs typeface="Calibri" pitchFamily="34" charset="-120"/>
              </a:rPr>
              <a:t>Ember</a:t>
            </a:r>
            <a:endParaRPr lang="en-US" sz="1300" dirty="0"/>
          </a:p>
        </p:txBody>
      </p:sp>
      <p:sp>
        <p:nvSpPr>
          <p:cNvPr id="15" name="Text 12"/>
          <p:cNvSpPr/>
          <p:nvPr/>
        </p:nvSpPr>
        <p:spPr>
          <a:xfrm>
            <a:off x="8202168" y="3063240"/>
            <a:ext cx="2834640" cy="228600"/>
          </a:xfrm>
          <a:prstGeom prst="rect">
            <a:avLst/>
          </a:prstGeom>
          <a:noFill/>
          <a:ln/>
        </p:spPr>
        <p:txBody>
          <a:bodyPr wrap="square" lIns="0" tIns="0" rIns="0" bIns="0" rtlCol="0" anchor="ctr"/>
          <a:lstStyle/>
          <a:p>
            <a:pPr indent="0" marL="0">
              <a:buNone/>
            </a:pPr>
            <a:r>
              <a:rPr lang="en-US" sz="1000" dirty="0">
                <a:solidFill>
                  <a:srgbClr val="171D24"/>
                </a:solidFill>
                <a:latin typeface="Courier New" pitchFamily="34" charset="0"/>
                <a:ea typeface="Courier New" pitchFamily="34" charset="-122"/>
                <a:cs typeface="Courier New" pitchFamily="34" charset="-120"/>
              </a:rPr>
              <a:t>#E46F3C</a:t>
            </a:r>
            <a:endParaRPr lang="en-US" sz="1000" dirty="0"/>
          </a:p>
        </p:txBody>
      </p:sp>
      <p:sp>
        <p:nvSpPr>
          <p:cNvPr id="16" name="Text 13"/>
          <p:cNvSpPr/>
          <p:nvPr/>
        </p:nvSpPr>
        <p:spPr>
          <a:xfrm>
            <a:off x="8202168" y="3273552"/>
            <a:ext cx="2834640" cy="228600"/>
          </a:xfrm>
          <a:prstGeom prst="rect">
            <a:avLst/>
          </a:prstGeom>
          <a:noFill/>
          <a:ln/>
        </p:spPr>
        <p:txBody>
          <a:bodyPr wrap="square" lIns="0" tIns="0" rIns="0" bIns="0" rtlCol="0" anchor="ctr"/>
          <a:lstStyle/>
          <a:p>
            <a:pPr indent="0" marL="0">
              <a:buNone/>
            </a:pPr>
            <a:r>
              <a:rPr lang="en-US" sz="1000" dirty="0">
                <a:solidFill>
                  <a:srgbClr val="171D24"/>
                </a:solidFill>
                <a:latin typeface="Calibri" pitchFamily="34" charset="0"/>
                <a:ea typeface="Calibri" pitchFamily="34" charset="-122"/>
                <a:cs typeface="Calibri" pitchFamily="34" charset="-120"/>
              </a:rPr>
              <a:t>Accent, never text</a:t>
            </a:r>
            <a:endParaRPr lang="en-US" sz="1000" dirty="0"/>
          </a:p>
        </p:txBody>
      </p:sp>
      <p:sp>
        <p:nvSpPr>
          <p:cNvPr id="17" name="Shape 14"/>
          <p:cNvSpPr/>
          <p:nvPr/>
        </p:nvSpPr>
        <p:spPr>
          <a:xfrm>
            <a:off x="777240" y="3886200"/>
            <a:ext cx="3200400" cy="1691640"/>
          </a:xfrm>
          <a:prstGeom prst="rect">
            <a:avLst/>
          </a:prstGeom>
          <a:solidFill>
            <a:srgbClr val="A94722"/>
          </a:solidFill>
          <a:ln/>
        </p:spPr>
      </p:sp>
      <p:sp>
        <p:nvSpPr>
          <p:cNvPr id="18" name="Text 15"/>
          <p:cNvSpPr/>
          <p:nvPr/>
        </p:nvSpPr>
        <p:spPr>
          <a:xfrm>
            <a:off x="978408" y="4800600"/>
            <a:ext cx="2834640" cy="27432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Ember Accessible</a:t>
            </a:r>
            <a:endParaRPr lang="en-US" sz="1300" dirty="0"/>
          </a:p>
        </p:txBody>
      </p:sp>
      <p:sp>
        <p:nvSpPr>
          <p:cNvPr id="19" name="Text 16"/>
          <p:cNvSpPr/>
          <p:nvPr/>
        </p:nvSpPr>
        <p:spPr>
          <a:xfrm>
            <a:off x="978408" y="5074920"/>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ourier New" pitchFamily="34" charset="0"/>
                <a:ea typeface="Courier New" pitchFamily="34" charset="-122"/>
                <a:cs typeface="Courier New" pitchFamily="34" charset="-120"/>
              </a:rPr>
              <a:t>#A94722</a:t>
            </a:r>
            <a:endParaRPr lang="en-US" sz="1000" dirty="0"/>
          </a:p>
        </p:txBody>
      </p:sp>
      <p:sp>
        <p:nvSpPr>
          <p:cNvPr id="20" name="Text 17"/>
          <p:cNvSpPr/>
          <p:nvPr/>
        </p:nvSpPr>
        <p:spPr>
          <a:xfrm>
            <a:off x="978408" y="5285232"/>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alibri" pitchFamily="34" charset="0"/>
                <a:ea typeface="Calibri" pitchFamily="34" charset="-122"/>
                <a:cs typeface="Calibri" pitchFamily="34" charset="-120"/>
              </a:rPr>
              <a:t>Accent when it is text</a:t>
            </a:r>
            <a:endParaRPr lang="en-US" sz="1000" dirty="0"/>
          </a:p>
        </p:txBody>
      </p:sp>
      <p:sp>
        <p:nvSpPr>
          <p:cNvPr id="21" name="Shape 18"/>
          <p:cNvSpPr/>
          <p:nvPr/>
        </p:nvSpPr>
        <p:spPr>
          <a:xfrm>
            <a:off x="4389120" y="3886200"/>
            <a:ext cx="3200400" cy="1691640"/>
          </a:xfrm>
          <a:prstGeom prst="rect">
            <a:avLst/>
          </a:prstGeom>
          <a:solidFill>
            <a:srgbClr val="F6F5F2"/>
          </a:solidFill>
          <a:ln w="12700">
            <a:solidFill>
              <a:srgbClr val="D8D5CF"/>
            </a:solidFill>
            <a:prstDash val="solid"/>
          </a:ln>
        </p:spPr>
      </p:sp>
      <p:sp>
        <p:nvSpPr>
          <p:cNvPr id="22" name="Text 19"/>
          <p:cNvSpPr/>
          <p:nvPr/>
        </p:nvSpPr>
        <p:spPr>
          <a:xfrm>
            <a:off x="4590288" y="4800600"/>
            <a:ext cx="2834640" cy="274320"/>
          </a:xfrm>
          <a:prstGeom prst="rect">
            <a:avLst/>
          </a:prstGeom>
          <a:noFill/>
          <a:ln/>
        </p:spPr>
        <p:txBody>
          <a:bodyPr wrap="square" lIns="0" tIns="0" rIns="0" bIns="0" rtlCol="0" anchor="ctr"/>
          <a:lstStyle/>
          <a:p>
            <a:pPr indent="0" marL="0">
              <a:buNone/>
            </a:pPr>
            <a:r>
              <a:rPr lang="en-US" sz="1300" b="1" dirty="0">
                <a:solidFill>
                  <a:srgbClr val="171D24"/>
                </a:solidFill>
                <a:latin typeface="Calibri" pitchFamily="34" charset="0"/>
                <a:ea typeface="Calibri" pitchFamily="34" charset="-122"/>
                <a:cs typeface="Calibri" pitchFamily="34" charset="-120"/>
              </a:rPr>
              <a:t>Porcelain</a:t>
            </a:r>
            <a:endParaRPr lang="en-US" sz="1300" dirty="0"/>
          </a:p>
        </p:txBody>
      </p:sp>
      <p:sp>
        <p:nvSpPr>
          <p:cNvPr id="23" name="Text 20"/>
          <p:cNvSpPr/>
          <p:nvPr/>
        </p:nvSpPr>
        <p:spPr>
          <a:xfrm>
            <a:off x="4590288" y="5074920"/>
            <a:ext cx="2834640" cy="228600"/>
          </a:xfrm>
          <a:prstGeom prst="rect">
            <a:avLst/>
          </a:prstGeom>
          <a:noFill/>
          <a:ln/>
        </p:spPr>
        <p:txBody>
          <a:bodyPr wrap="square" lIns="0" tIns="0" rIns="0" bIns="0" rtlCol="0" anchor="ctr"/>
          <a:lstStyle/>
          <a:p>
            <a:pPr indent="0" marL="0">
              <a:buNone/>
            </a:pPr>
            <a:r>
              <a:rPr lang="en-US" sz="1000" dirty="0">
                <a:solidFill>
                  <a:srgbClr val="171D24"/>
                </a:solidFill>
                <a:latin typeface="Courier New" pitchFamily="34" charset="0"/>
                <a:ea typeface="Courier New" pitchFamily="34" charset="-122"/>
                <a:cs typeface="Courier New" pitchFamily="34" charset="-120"/>
              </a:rPr>
              <a:t>#F6F5F2</a:t>
            </a:r>
            <a:endParaRPr lang="en-US" sz="1000" dirty="0"/>
          </a:p>
        </p:txBody>
      </p:sp>
      <p:sp>
        <p:nvSpPr>
          <p:cNvPr id="24" name="Text 21"/>
          <p:cNvSpPr/>
          <p:nvPr/>
        </p:nvSpPr>
        <p:spPr>
          <a:xfrm>
            <a:off x="4590288" y="5285232"/>
            <a:ext cx="2834640" cy="228600"/>
          </a:xfrm>
          <a:prstGeom prst="rect">
            <a:avLst/>
          </a:prstGeom>
          <a:noFill/>
          <a:ln/>
        </p:spPr>
        <p:txBody>
          <a:bodyPr wrap="square" lIns="0" tIns="0" rIns="0" bIns="0" rtlCol="0" anchor="ctr"/>
          <a:lstStyle/>
          <a:p>
            <a:pPr indent="0" marL="0">
              <a:buNone/>
            </a:pPr>
            <a:r>
              <a:rPr lang="en-US" sz="1000" dirty="0">
                <a:solidFill>
                  <a:srgbClr val="171D24"/>
                </a:solidFill>
                <a:latin typeface="Calibri" pitchFamily="34" charset="0"/>
                <a:ea typeface="Calibri" pitchFamily="34" charset="-122"/>
                <a:cs typeface="Calibri" pitchFamily="34" charset="-120"/>
              </a:rPr>
              <a:t>The page ground</a:t>
            </a:r>
            <a:endParaRPr lang="en-US" sz="1000" dirty="0"/>
          </a:p>
        </p:txBody>
      </p:sp>
      <p:sp>
        <p:nvSpPr>
          <p:cNvPr id="25" name="Shape 22"/>
          <p:cNvSpPr/>
          <p:nvPr/>
        </p:nvSpPr>
        <p:spPr>
          <a:xfrm>
            <a:off x="8001000" y="3886200"/>
            <a:ext cx="3200400" cy="1691640"/>
          </a:xfrm>
          <a:prstGeom prst="rect">
            <a:avLst/>
          </a:prstGeom>
          <a:solidFill>
            <a:srgbClr val="171D24"/>
          </a:solidFill>
          <a:ln/>
        </p:spPr>
      </p:sp>
      <p:sp>
        <p:nvSpPr>
          <p:cNvPr id="26" name="Text 23"/>
          <p:cNvSpPr/>
          <p:nvPr/>
        </p:nvSpPr>
        <p:spPr>
          <a:xfrm>
            <a:off x="8202168" y="4800600"/>
            <a:ext cx="2834640" cy="27432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Ink</a:t>
            </a:r>
            <a:endParaRPr lang="en-US" sz="1300" dirty="0"/>
          </a:p>
        </p:txBody>
      </p:sp>
      <p:sp>
        <p:nvSpPr>
          <p:cNvPr id="27" name="Text 24"/>
          <p:cNvSpPr/>
          <p:nvPr/>
        </p:nvSpPr>
        <p:spPr>
          <a:xfrm>
            <a:off x="8202168" y="5074920"/>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ourier New" pitchFamily="34" charset="0"/>
                <a:ea typeface="Courier New" pitchFamily="34" charset="-122"/>
                <a:cs typeface="Courier New" pitchFamily="34" charset="-120"/>
              </a:rPr>
              <a:t>#171D24</a:t>
            </a:r>
            <a:endParaRPr lang="en-US" sz="1000" dirty="0"/>
          </a:p>
        </p:txBody>
      </p:sp>
      <p:sp>
        <p:nvSpPr>
          <p:cNvPr id="28" name="Text 25"/>
          <p:cNvSpPr/>
          <p:nvPr/>
        </p:nvSpPr>
        <p:spPr>
          <a:xfrm>
            <a:off x="8202168" y="5285232"/>
            <a:ext cx="2834640" cy="228600"/>
          </a:xfrm>
          <a:prstGeom prst="rect">
            <a:avLst/>
          </a:prstGeom>
          <a:noFill/>
          <a:ln/>
        </p:spPr>
        <p:txBody>
          <a:bodyPr wrap="square" lIns="0" tIns="0" rIns="0" bIns="0" rtlCol="0" anchor="ctr"/>
          <a:lstStyle/>
          <a:p>
            <a:pPr indent="0" marL="0">
              <a:buNone/>
            </a:pPr>
            <a:r>
              <a:rPr lang="en-US" sz="1000" dirty="0">
                <a:solidFill>
                  <a:srgbClr val="F6F5F2"/>
                </a:solidFill>
                <a:latin typeface="Calibri" pitchFamily="34" charset="0"/>
                <a:ea typeface="Calibri" pitchFamily="34" charset="-122"/>
                <a:cs typeface="Calibri" pitchFamily="34" charset="-120"/>
              </a:rPr>
              <a:t>Body text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TYPOGRAPHY</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A serif that sounds like a congregation</a:t>
            </a:r>
            <a:endParaRPr lang="en-US" sz="3400" dirty="0"/>
          </a:p>
        </p:txBody>
      </p:sp>
      <p:sp>
        <p:nvSpPr>
          <p:cNvPr id="5" name="Text 2"/>
          <p:cNvSpPr/>
          <p:nvPr/>
        </p:nvSpPr>
        <p:spPr>
          <a:xfrm>
            <a:off x="777240" y="1965960"/>
            <a:ext cx="10058400" cy="1005840"/>
          </a:xfrm>
          <a:prstGeom prst="rect">
            <a:avLst/>
          </a:prstGeom>
          <a:noFill/>
          <a:ln/>
        </p:spPr>
        <p:txBody>
          <a:bodyPr wrap="square" lIns="0" tIns="0" rIns="0" bIns="0" rtlCol="0" anchor="ctr"/>
          <a:lstStyle/>
          <a:p>
            <a:pPr indent="0" marL="0">
              <a:buNone/>
            </a:pPr>
            <a:r>
              <a:rPr lang="en-US" sz="4000" b="1" dirty="0">
                <a:solidFill>
                  <a:srgbClr val="171D24"/>
                </a:solidFill>
                <a:latin typeface="Cambria" pitchFamily="34" charset="0"/>
                <a:ea typeface="Cambria" pitchFamily="34" charset="-122"/>
                <a:cs typeface="Cambria" pitchFamily="34" charset="-120"/>
              </a:rPr>
              <a:t>A vision to impact nations.</a:t>
            </a:r>
            <a:endParaRPr lang="en-US" sz="4000" dirty="0"/>
          </a:p>
        </p:txBody>
      </p:sp>
      <p:sp>
        <p:nvSpPr>
          <p:cNvPr id="6" name="Text 3"/>
          <p:cNvSpPr/>
          <p:nvPr/>
        </p:nvSpPr>
        <p:spPr>
          <a:xfrm>
            <a:off x="777240" y="2971800"/>
            <a:ext cx="4572000" cy="274320"/>
          </a:xfrm>
          <a:prstGeom prst="rect">
            <a:avLst/>
          </a:prstGeom>
          <a:noFill/>
          <a:ln/>
        </p:spPr>
        <p:txBody>
          <a:bodyPr wrap="square" lIns="0" tIns="0" rIns="0" bIns="0" rtlCol="0" anchor="ctr"/>
          <a:lstStyle/>
          <a:p>
            <a:pPr indent="0" marL="0">
              <a:buNone/>
            </a:pPr>
            <a:r>
              <a:rPr lang="en-US" sz="1100" dirty="0">
                <a:solidFill>
                  <a:srgbClr val="5C5A56"/>
                </a:solidFill>
                <a:latin typeface="Calibri" pitchFamily="34" charset="0"/>
                <a:ea typeface="Calibri" pitchFamily="34" charset="-122"/>
                <a:cs typeface="Calibri" pitchFamily="34" charset="-120"/>
              </a:rPr>
              <a:t>Fraunces  ·  headings only</a:t>
            </a:r>
            <a:endParaRPr lang="en-US" sz="1100" dirty="0"/>
          </a:p>
        </p:txBody>
      </p:sp>
      <p:sp>
        <p:nvSpPr>
          <p:cNvPr id="7" name="Text 4"/>
          <p:cNvSpPr/>
          <p:nvPr/>
        </p:nvSpPr>
        <p:spPr>
          <a:xfrm>
            <a:off x="777240" y="3657600"/>
            <a:ext cx="6583680" cy="914400"/>
          </a:xfrm>
          <a:prstGeom prst="rect">
            <a:avLst/>
          </a:prstGeom>
          <a:noFill/>
          <a:ln/>
        </p:spPr>
        <p:txBody>
          <a:bodyPr wrap="square" lIns="0" tIns="0" rIns="0" bIns="0" rtlCol="0" anchor="ctr"/>
          <a:lstStyle/>
          <a:p>
            <a:pPr indent="0" marL="0">
              <a:buNone/>
            </a:pPr>
            <a:r>
              <a:rPr lang="en-US" sz="1600" dirty="0">
                <a:solidFill>
                  <a:srgbClr val="171D24"/>
                </a:solidFill>
                <a:latin typeface="Calibri" pitchFamily="34" charset="0"/>
                <a:ea typeface="Calibri" pitchFamily="34" charset="-122"/>
                <a:cs typeface="Calibri" pitchFamily="34" charset="-120"/>
              </a:rPr>
              <a:t>The welcome desk is just inside the main entrance. Tell them it is your first Sunday and someone will walk you in.</a:t>
            </a:r>
            <a:endParaRPr lang="en-US" sz="1600" dirty="0"/>
          </a:p>
        </p:txBody>
      </p:sp>
      <p:sp>
        <p:nvSpPr>
          <p:cNvPr id="8" name="Text 5"/>
          <p:cNvSpPr/>
          <p:nvPr/>
        </p:nvSpPr>
        <p:spPr>
          <a:xfrm>
            <a:off x="777240" y="4617720"/>
            <a:ext cx="5486400" cy="274320"/>
          </a:xfrm>
          <a:prstGeom prst="rect">
            <a:avLst/>
          </a:prstGeom>
          <a:noFill/>
          <a:ln/>
        </p:spPr>
        <p:txBody>
          <a:bodyPr wrap="square" lIns="0" tIns="0" rIns="0" bIns="0" rtlCol="0" anchor="ctr"/>
          <a:lstStyle/>
          <a:p>
            <a:pPr indent="0" marL="0">
              <a:buNone/>
            </a:pPr>
            <a:r>
              <a:rPr lang="en-US" sz="1100" dirty="0">
                <a:solidFill>
                  <a:srgbClr val="5C5A56"/>
                </a:solidFill>
                <a:latin typeface="Calibri" pitchFamily="34" charset="0"/>
                <a:ea typeface="Calibri" pitchFamily="34" charset="-122"/>
                <a:cs typeface="Calibri" pitchFamily="34" charset="-120"/>
              </a:rPr>
              <a:t>Inter  ·  body, navigation, buttons, labels, legal</a:t>
            </a:r>
            <a:endParaRPr lang="en-US" sz="1100" dirty="0"/>
          </a:p>
        </p:txBody>
      </p:sp>
      <p:sp>
        <p:nvSpPr>
          <p:cNvPr id="9" name="Shape 6"/>
          <p:cNvSpPr/>
          <p:nvPr/>
        </p:nvSpPr>
        <p:spPr>
          <a:xfrm>
            <a:off x="7863840" y="3611880"/>
            <a:ext cx="3520440" cy="1783080"/>
          </a:xfrm>
          <a:prstGeom prst="rect">
            <a:avLst/>
          </a:prstGeom>
          <a:solidFill>
            <a:srgbClr val="FFFFFF"/>
          </a:solidFill>
          <a:ln w="12700">
            <a:solidFill>
              <a:srgbClr val="D8D5CF"/>
            </a:solidFill>
            <a:prstDash val="solid"/>
          </a:ln>
        </p:spPr>
      </p:sp>
      <p:sp>
        <p:nvSpPr>
          <p:cNvPr id="10" name="Text 7"/>
          <p:cNvSpPr/>
          <p:nvPr/>
        </p:nvSpPr>
        <p:spPr>
          <a:xfrm>
            <a:off x="8092440" y="3767328"/>
            <a:ext cx="3108960" cy="274320"/>
          </a:xfrm>
          <a:prstGeom prst="rect">
            <a:avLst/>
          </a:prstGeom>
          <a:noFill/>
          <a:ln/>
        </p:spPr>
        <p:txBody>
          <a:bodyPr wrap="square" lIns="0" tIns="0" rIns="0" bIns="0" rtlCol="0" anchor="ctr"/>
          <a:lstStyle/>
          <a:p>
            <a:pPr indent="0" marL="0">
              <a:buNone/>
            </a:pPr>
            <a:r>
              <a:rPr lang="en-US" sz="1100" b="1" spc="120" kern="0" dirty="0">
                <a:solidFill>
                  <a:srgbClr val="5C5A56"/>
                </a:solidFill>
                <a:latin typeface="Calibri" pitchFamily="34" charset="0"/>
                <a:ea typeface="Calibri" pitchFamily="34" charset="-122"/>
                <a:cs typeface="Calibri" pitchFamily="34" charset="-120"/>
              </a:rPr>
              <a:t>Minimum sizes</a:t>
            </a:r>
            <a:endParaRPr lang="en-US" sz="1100" dirty="0"/>
          </a:p>
        </p:txBody>
      </p:sp>
      <p:sp>
        <p:nvSpPr>
          <p:cNvPr id="11" name="Text 8"/>
          <p:cNvSpPr/>
          <p:nvPr/>
        </p:nvSpPr>
        <p:spPr>
          <a:xfrm>
            <a:off x="8092440" y="4114800"/>
            <a:ext cx="3108960" cy="1188720"/>
          </a:xfrm>
          <a:prstGeom prst="rect">
            <a:avLst/>
          </a:prstGeom>
          <a:noFill/>
          <a:ln/>
        </p:spPr>
        <p:txBody>
          <a:bodyPr wrap="square" lIns="0" tIns="0" rIns="0" bIns="0" rtlCol="0" anchor="ctr"/>
          <a:lstStyle/>
          <a:p>
            <a:pPr indent="0" marL="0">
              <a:spcAft>
                <a:spcPts val="600"/>
              </a:spcAft>
              <a:buNone/>
            </a:pPr>
            <a:r>
              <a:rPr lang="en-US" sz="1200" dirty="0">
                <a:solidFill>
                  <a:srgbClr val="171D24"/>
                </a:solidFill>
                <a:latin typeface="Calibri" pitchFamily="34" charset="0"/>
                <a:ea typeface="Calibri" pitchFamily="34" charset="-122"/>
                <a:cs typeface="Calibri" pitchFamily="34" charset="-120"/>
              </a:rPr>
              <a:t>Navigation  14px</a:t>
            </a:r>
            <a:endParaRPr lang="en-US" sz="1200" dirty="0"/>
          </a:p>
          <a:p>
            <a:pPr indent="0" marL="0">
              <a:spcAft>
                <a:spcPts val="600"/>
              </a:spcAft>
              <a:buNone/>
            </a:pPr>
            <a:r>
              <a:rPr lang="en-US" sz="1200" dirty="0">
                <a:solidFill>
                  <a:srgbClr val="171D24"/>
                </a:solidFill>
                <a:latin typeface="Calibri" pitchFamily="34" charset="0"/>
                <a:ea typeface="Calibri" pitchFamily="34" charset="-122"/>
                <a:cs typeface="Calibri" pitchFamily="34" charset="-120"/>
              </a:rPr>
              <a:t>Body  16px</a:t>
            </a:r>
            <a:endParaRPr lang="en-US" sz="1200" dirty="0"/>
          </a:p>
          <a:p>
            <a:pPr indent="0" marL="0">
              <a:spcAft>
                <a:spcPts val="600"/>
              </a:spcAft>
              <a:buNone/>
            </a:pPr>
            <a:r>
              <a:rPr lang="en-US" sz="1200" dirty="0">
                <a:solidFill>
                  <a:srgbClr val="171D24"/>
                </a:solidFill>
                <a:latin typeface="Calibri" pitchFamily="34" charset="0"/>
                <a:ea typeface="Calibri" pitchFamily="34" charset="-122"/>
                <a:cs typeface="Calibri" pitchFamily="34" charset="-120"/>
              </a:rPr>
              <a:t>12px  labels only, never for safeguarding, privacy or giving</a:t>
            </a:r>
            <a:endParaRPr lang="en-US" sz="1200" dirty="0"/>
          </a:p>
        </p:txBody>
      </p:sp>
      <p:sp>
        <p:nvSpPr>
          <p:cNvPr id="12" name="Text 9"/>
          <p:cNvSpPr/>
          <p:nvPr/>
        </p:nvSpPr>
        <p:spPr>
          <a:xfrm>
            <a:off x="777240" y="5577840"/>
            <a:ext cx="10058400" cy="365760"/>
          </a:xfrm>
          <a:prstGeom prst="rect">
            <a:avLst/>
          </a:prstGeom>
          <a:noFill/>
          <a:ln/>
        </p:spPr>
        <p:txBody>
          <a:bodyPr wrap="square" lIns="0" tIns="0" rIns="0" bIns="0" rtlCol="0" anchor="ctr"/>
          <a:lstStyle/>
          <a:p>
            <a:pPr indent="0" marL="0">
              <a:buNone/>
            </a:pPr>
            <a:r>
              <a:rPr lang="en-US" sz="1300" i="1" dirty="0">
                <a:solidFill>
                  <a:srgbClr val="5C5A56"/>
                </a:solidFill>
                <a:latin typeface="Calibri" pitchFamily="34" charset="0"/>
                <a:ea typeface="Calibri" pitchFamily="34" charset="-122"/>
                <a:cs typeface="Calibri" pitchFamily="34" charset="-120"/>
              </a:rPr>
              <a:t>Both typefaces are open licence. No fee, no renewal, no per-domain licence to track.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03847"/>
        </a:solidFill>
      </p:bgPr>
    </p:bg>
    <p:spTree>
      <p:nvGrpSpPr>
        <p:cNvPr id="1" name=""/>
        <p:cNvGrpSpPr/>
        <p:nvPr/>
      </p:nvGrpSpPr>
      <p:grpSpPr>
        <a:xfrm>
          <a:off x="0" y="0"/>
          <a:ext cx="0" cy="0"/>
          <a:chOff x="0" y="0"/>
          <a:chExt cx="0" cy="0"/>
        </a:xfrm>
      </p:grpSpPr>
      <p:sp>
        <p:nvSpPr>
          <p:cNvPr id="2"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C7C3BC"/>
                </a:solidFill>
                <a:latin typeface="Calibri" pitchFamily="34" charset="0"/>
                <a:ea typeface="Calibri" pitchFamily="34" charset="-122"/>
                <a:cs typeface="Calibri" pitchFamily="34" charset="-120"/>
              </a:rPr>
              <a:t>THE WEBSITE</a:t>
            </a:r>
            <a:endParaRPr lang="en-US" sz="1100" dirty="0"/>
          </a:p>
        </p:txBody>
      </p:sp>
      <p:sp>
        <p:nvSpPr>
          <p:cNvPr id="3"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F6F5F2"/>
                </a:solidFill>
                <a:latin typeface="Cambria" pitchFamily="34" charset="0"/>
                <a:ea typeface="Cambria" pitchFamily="34" charset="-122"/>
                <a:cs typeface="Cambria" pitchFamily="34" charset="-120"/>
              </a:rPr>
              <a:t>One page, one job</a:t>
            </a:r>
            <a:endParaRPr lang="en-US" sz="3400" dirty="0"/>
          </a:p>
        </p:txBody>
      </p:sp>
      <p:pic>
        <p:nvPicPr>
          <p:cNvPr id="4" name="Image 0" descr="/tmp/claude-0/-home-user-The-TransEdge-Website/45782d4c-59e9-5edf-b365-d782549d70e6/scratchpad/deliverables/C-desktop.png">    </p:cNvPr>
          <p:cNvPicPr>
            <a:picLocks noChangeAspect="1"/>
          </p:cNvPicPr>
          <p:nvPr/>
        </p:nvPicPr>
        <p:blipFill>
          <a:blip r:embed="rId1"/>
          <a:stretch>
            <a:fillRect/>
          </a:stretch>
        </p:blipFill>
        <p:spPr>
          <a:xfrm>
            <a:off x="777240" y="1783080"/>
            <a:ext cx="7589520" cy="4507992"/>
          </a:xfrm>
          <a:prstGeom prst="rect">
            <a:avLst/>
          </a:prstGeom>
        </p:spPr>
      </p:pic>
      <p:sp>
        <p:nvSpPr>
          <p:cNvPr id="5" name="Text 2"/>
          <p:cNvSpPr/>
          <p:nvPr/>
        </p:nvSpPr>
        <p:spPr>
          <a:xfrm>
            <a:off x="8778240" y="2194560"/>
            <a:ext cx="2651760" cy="274320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C7C3BC"/>
                </a:solidFill>
                <a:latin typeface="Calibri" pitchFamily="34" charset="0"/>
                <a:ea typeface="Calibri" pitchFamily="34" charset="-122"/>
                <a:cs typeface="Calibri" pitchFamily="34" charset="-120"/>
              </a:rPr>
              <a:t>Who, where, when and one action, above the fold.</a:t>
            </a:r>
            <a:endParaRPr lang="en-US" sz="1300" dirty="0"/>
          </a:p>
          <a:p>
            <a:pPr marL="342900" indent="-342900">
              <a:spcAft>
                <a:spcPts val="1200"/>
              </a:spcAft>
              <a:buSzPct val="100000"/>
              <a:buChar char="•"/>
            </a:pPr>
            <a:r>
              <a:rPr lang="en-US" sz="1300" dirty="0">
                <a:solidFill>
                  <a:srgbClr val="C7C3BC"/>
                </a:solidFill>
                <a:latin typeface="Calibri" pitchFamily="34" charset="0"/>
                <a:ea typeface="Calibri" pitchFamily="34" charset="-122"/>
                <a:cs typeface="Calibri" pitchFamily="34" charset="-120"/>
              </a:rPr>
              <a:t>No carousel, no autoplay, no pop-up.</a:t>
            </a:r>
            <a:endParaRPr lang="en-US" sz="1300" dirty="0"/>
          </a:p>
          <a:p>
            <a:pPr marL="342900" indent="-342900">
              <a:spcAft>
                <a:spcPts val="1200"/>
              </a:spcAft>
              <a:buSzPct val="100000"/>
              <a:buChar char="•"/>
            </a:pPr>
            <a:r>
              <a:rPr lang="en-US" sz="1300" dirty="0">
                <a:solidFill>
                  <a:srgbClr val="C7C3BC"/>
                </a:solidFill>
                <a:latin typeface="Calibri" pitchFamily="34" charset="0"/>
                <a:ea typeface="Calibri" pitchFamily="34" charset="-122"/>
                <a:cs typeface="Calibri" pitchFamily="34" charset="-120"/>
              </a:rPr>
              <a:t>A first-time visitor can answer "should I come" in under a minute.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THE WEBSITE</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The pages that do the work</a:t>
            </a:r>
            <a:endParaRPr lang="en-US" sz="3400" dirty="0"/>
          </a:p>
        </p:txBody>
      </p:sp>
      <p:pic>
        <p:nvPicPr>
          <p:cNvPr id="5" name="Image 1" descr="/tmp/claude-0/-home-user-The-TransEdge-Website/45782d4c-59e9-5edf-b365-d782549d70e6/scratchpad/deliverables/shot-visit.png">    </p:cNvPr>
          <p:cNvPicPr>
            <a:picLocks noChangeAspect="1"/>
          </p:cNvPicPr>
          <p:nvPr/>
        </p:nvPicPr>
        <p:blipFill>
          <a:blip r:embed="rId2"/>
          <a:srcRect l="0" r="0" t="1220" b="1220"/>
          <a:stretch/>
        </p:blipFill>
        <p:spPr>
          <a:xfrm>
            <a:off x="777240" y="1828800"/>
            <a:ext cx="3200400" cy="2194560"/>
          </a:xfrm>
          <a:prstGeom prst="rect">
            <a:avLst/>
          </a:prstGeom>
        </p:spPr>
      </p:pic>
      <p:sp>
        <p:nvSpPr>
          <p:cNvPr id="6" name="Text 2"/>
          <p:cNvSpPr/>
          <p:nvPr/>
        </p:nvSpPr>
        <p:spPr>
          <a:xfrm>
            <a:off x="777240" y="4160520"/>
            <a:ext cx="3200400" cy="292608"/>
          </a:xfrm>
          <a:prstGeom prst="rect">
            <a:avLst/>
          </a:prstGeom>
          <a:noFill/>
          <a:ln/>
        </p:spPr>
        <p:txBody>
          <a:bodyPr wrap="square" lIns="0" tIns="0" rIns="0" bIns="0" rtlCol="0" anchor="ctr"/>
          <a:lstStyle/>
          <a:p>
            <a:pPr indent="0" marL="0">
              <a:buNone/>
            </a:pPr>
            <a:r>
              <a:rPr lang="en-US" sz="1700" b="1" dirty="0">
                <a:solidFill>
                  <a:srgbClr val="171D24"/>
                </a:solidFill>
                <a:latin typeface="Cambria" pitchFamily="34" charset="0"/>
                <a:ea typeface="Cambria" pitchFamily="34" charset="-122"/>
                <a:cs typeface="Cambria" pitchFamily="34" charset="-120"/>
              </a:rPr>
              <a:t>Plan your visit</a:t>
            </a:r>
            <a:endParaRPr lang="en-US" sz="1700" dirty="0"/>
          </a:p>
        </p:txBody>
      </p:sp>
      <p:sp>
        <p:nvSpPr>
          <p:cNvPr id="7" name="Text 3"/>
          <p:cNvSpPr/>
          <p:nvPr/>
        </p:nvSpPr>
        <p:spPr>
          <a:xfrm>
            <a:off x="777240" y="4498848"/>
            <a:ext cx="3200400" cy="777240"/>
          </a:xfrm>
          <a:prstGeom prst="rect">
            <a:avLst/>
          </a:prstGeom>
          <a:noFill/>
          <a:ln/>
        </p:spPr>
        <p:txBody>
          <a:bodyPr wrap="square" lIns="0" tIns="0" rIns="0" bIns="0" rtlCol="0" anchor="ctr"/>
          <a:lstStyle/>
          <a:p>
            <a:pPr indent="0" marL="0">
              <a:buNone/>
            </a:pPr>
            <a:r>
              <a:rPr lang="en-US" sz="1250" dirty="0">
                <a:solidFill>
                  <a:srgbClr val="5C5A56"/>
                </a:solidFill>
                <a:latin typeface="Calibri" pitchFamily="34" charset="0"/>
                <a:ea typeface="Calibri" pitchFamily="34" charset="-122"/>
                <a:cs typeface="Calibri" pitchFamily="34" charset="-120"/>
              </a:rPr>
              <a:t>Four steps to a calendar invite and a name to look for.</a:t>
            </a:r>
            <a:endParaRPr lang="en-US" sz="1250" dirty="0"/>
          </a:p>
        </p:txBody>
      </p:sp>
      <p:pic>
        <p:nvPicPr>
          <p:cNvPr id="8" name="Image 2" descr="/tmp/claude-0/-home-user-The-TransEdge-Website/45782d4c-59e9-5edf-b365-d782549d70e6/scratchpad/deliverables/shot-give.png">    </p:cNvPr>
          <p:cNvPicPr>
            <a:picLocks noChangeAspect="1"/>
          </p:cNvPicPr>
          <p:nvPr/>
        </p:nvPicPr>
        <p:blipFill>
          <a:blip r:embed="rId3"/>
          <a:srcRect l="0" r="0" t="1220" b="1220"/>
          <a:stretch/>
        </p:blipFill>
        <p:spPr>
          <a:xfrm>
            <a:off x="4389120" y="1828800"/>
            <a:ext cx="3200400" cy="2194560"/>
          </a:xfrm>
          <a:prstGeom prst="rect">
            <a:avLst/>
          </a:prstGeom>
        </p:spPr>
      </p:pic>
      <p:sp>
        <p:nvSpPr>
          <p:cNvPr id="9" name="Text 4"/>
          <p:cNvSpPr/>
          <p:nvPr/>
        </p:nvSpPr>
        <p:spPr>
          <a:xfrm>
            <a:off x="4389120" y="4160520"/>
            <a:ext cx="3200400" cy="292608"/>
          </a:xfrm>
          <a:prstGeom prst="rect">
            <a:avLst/>
          </a:prstGeom>
          <a:noFill/>
          <a:ln/>
        </p:spPr>
        <p:txBody>
          <a:bodyPr wrap="square" lIns="0" tIns="0" rIns="0" bIns="0" rtlCol="0" anchor="ctr"/>
          <a:lstStyle/>
          <a:p>
            <a:pPr indent="0" marL="0">
              <a:buNone/>
            </a:pPr>
            <a:r>
              <a:rPr lang="en-US" sz="1700" b="1" dirty="0">
                <a:solidFill>
                  <a:srgbClr val="171D24"/>
                </a:solidFill>
                <a:latin typeface="Cambria" pitchFamily="34" charset="0"/>
                <a:ea typeface="Cambria" pitchFamily="34" charset="-122"/>
                <a:cs typeface="Cambria" pitchFamily="34" charset="-120"/>
              </a:rPr>
              <a:t>Give</a:t>
            </a:r>
            <a:endParaRPr lang="en-US" sz="1700" dirty="0"/>
          </a:p>
        </p:txBody>
      </p:sp>
      <p:sp>
        <p:nvSpPr>
          <p:cNvPr id="10" name="Text 5"/>
          <p:cNvSpPr/>
          <p:nvPr/>
        </p:nvSpPr>
        <p:spPr>
          <a:xfrm>
            <a:off x="4389120" y="4498848"/>
            <a:ext cx="3200400" cy="777240"/>
          </a:xfrm>
          <a:prstGeom prst="rect">
            <a:avLst/>
          </a:prstGeom>
          <a:noFill/>
          <a:ln/>
        </p:spPr>
        <p:txBody>
          <a:bodyPr wrap="square" lIns="0" tIns="0" rIns="0" bIns="0" rtlCol="0" anchor="ctr"/>
          <a:lstStyle/>
          <a:p>
            <a:pPr indent="0" marL="0">
              <a:buNone/>
            </a:pPr>
            <a:r>
              <a:rPr lang="en-US" sz="1250" dirty="0">
                <a:solidFill>
                  <a:srgbClr val="5C5A56"/>
                </a:solidFill>
                <a:latin typeface="Calibri" pitchFamily="34" charset="0"/>
                <a:ea typeface="Calibri" pitchFamily="34" charset="-122"/>
                <a:cs typeface="Calibri" pitchFamily="34" charset="-120"/>
              </a:rPr>
              <a:t>Two methods. Receipts explained honestly.</a:t>
            </a:r>
            <a:endParaRPr lang="en-US" sz="1250" dirty="0"/>
          </a:p>
        </p:txBody>
      </p:sp>
      <p:pic>
        <p:nvPicPr>
          <p:cNvPr id="11" name="Image 3" descr="/tmp/claude-0/-home-user-The-TransEdge-Website/45782d4c-59e9-5edf-b365-d782549d70e6/scratchpad/deliverables/shot-mobile.png">    </p:cNvPr>
          <p:cNvPicPr>
            <a:picLocks noChangeAspect="1"/>
          </p:cNvPicPr>
          <p:nvPr/>
        </p:nvPicPr>
        <p:blipFill>
          <a:blip r:embed="rId4"/>
          <a:srcRect l="0" r="0" t="0" b="0"/>
          <a:stretch/>
        </p:blipFill>
        <p:spPr>
          <a:xfrm>
            <a:off x="8001000" y="1828800"/>
            <a:ext cx="3200400" cy="2194560"/>
          </a:xfrm>
          <a:prstGeom prst="rect">
            <a:avLst/>
          </a:prstGeom>
        </p:spPr>
      </p:pic>
      <p:sp>
        <p:nvSpPr>
          <p:cNvPr id="12" name="Text 6"/>
          <p:cNvSpPr/>
          <p:nvPr/>
        </p:nvSpPr>
        <p:spPr>
          <a:xfrm>
            <a:off x="8001000" y="4160520"/>
            <a:ext cx="3200400" cy="292608"/>
          </a:xfrm>
          <a:prstGeom prst="rect">
            <a:avLst/>
          </a:prstGeom>
          <a:noFill/>
          <a:ln/>
        </p:spPr>
        <p:txBody>
          <a:bodyPr wrap="square" lIns="0" tIns="0" rIns="0" bIns="0" rtlCol="0" anchor="ctr"/>
          <a:lstStyle/>
          <a:p>
            <a:pPr indent="0" marL="0">
              <a:buNone/>
            </a:pPr>
            <a:r>
              <a:rPr lang="en-US" sz="1700" b="1" dirty="0">
                <a:solidFill>
                  <a:srgbClr val="171D24"/>
                </a:solidFill>
                <a:latin typeface="Cambria" pitchFamily="34" charset="0"/>
                <a:ea typeface="Cambria" pitchFamily="34" charset="-122"/>
                <a:cs typeface="Cambria" pitchFamily="34" charset="-120"/>
              </a:rPr>
              <a:t>On a phone</a:t>
            </a:r>
            <a:endParaRPr lang="en-US" sz="1700" dirty="0"/>
          </a:p>
        </p:txBody>
      </p:sp>
      <p:sp>
        <p:nvSpPr>
          <p:cNvPr id="13" name="Text 7"/>
          <p:cNvSpPr/>
          <p:nvPr/>
        </p:nvSpPr>
        <p:spPr>
          <a:xfrm>
            <a:off x="8001000" y="4498848"/>
            <a:ext cx="3200400" cy="777240"/>
          </a:xfrm>
          <a:prstGeom prst="rect">
            <a:avLst/>
          </a:prstGeom>
          <a:noFill/>
          <a:ln/>
        </p:spPr>
        <p:txBody>
          <a:bodyPr wrap="square" lIns="0" tIns="0" rIns="0" bIns="0" rtlCol="0" anchor="ctr"/>
          <a:lstStyle/>
          <a:p>
            <a:pPr indent="0" marL="0">
              <a:buNone/>
            </a:pPr>
            <a:r>
              <a:rPr lang="en-US" sz="1250" dirty="0">
                <a:solidFill>
                  <a:srgbClr val="5C5A56"/>
                </a:solidFill>
                <a:latin typeface="Calibri" pitchFamily="34" charset="0"/>
                <a:ea typeface="Calibri" pitchFamily="34" charset="-122"/>
                <a:cs typeface="Calibri" pitchFamily="34" charset="-120"/>
              </a:rPr>
              <a:t>Built for a mid-range Android on mobile data.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OUR COMMUNITY</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Seven languages, including Arabic</a:t>
            </a:r>
            <a:endParaRPr lang="en-US" sz="3400" dirty="0"/>
          </a:p>
        </p:txBody>
      </p:sp>
      <p:pic>
        <p:nvPicPr>
          <p:cNvPr id="5" name="Image 1" descr="/tmp/claude-0/-home-user-The-TransEdge-Website/45782d4c-59e9-5edf-b365-d782549d70e6/scratchpad/deliverables/shot-arabic.png">    </p:cNvPr>
          <p:cNvPicPr>
            <a:picLocks noChangeAspect="1"/>
          </p:cNvPicPr>
          <p:nvPr/>
        </p:nvPicPr>
        <p:blipFill>
          <a:blip r:embed="rId2"/>
          <a:stretch>
            <a:fillRect/>
          </a:stretch>
        </p:blipFill>
        <p:spPr>
          <a:xfrm>
            <a:off x="6309360" y="1828800"/>
            <a:ext cx="5074920" cy="3566160"/>
          </a:xfrm>
          <a:prstGeom prst="rect">
            <a:avLst/>
          </a:prstGeom>
        </p:spPr>
      </p:pic>
      <p:sp>
        <p:nvSpPr>
          <p:cNvPr id="6" name="Text 2"/>
          <p:cNvSpPr/>
          <p:nvPr/>
        </p:nvSpPr>
        <p:spPr>
          <a:xfrm>
            <a:off x="777240" y="1920240"/>
            <a:ext cx="5120640" cy="822960"/>
          </a:xfrm>
          <a:prstGeom prst="rect">
            <a:avLst/>
          </a:prstGeom>
          <a:noFill/>
          <a:ln/>
        </p:spPr>
        <p:txBody>
          <a:bodyPr wrap="square" lIns="0" tIns="0" rIns="0" bIns="0" rtlCol="0" anchor="ctr"/>
          <a:lstStyle/>
          <a:p>
            <a:pPr indent="0" marL="0">
              <a:buNone/>
            </a:pPr>
            <a:r>
              <a:rPr lang="en-US" sz="1700" dirty="0">
                <a:solidFill>
                  <a:srgbClr val="171D24"/>
                </a:solidFill>
                <a:latin typeface="Calibri" pitchFamily="34" charset="0"/>
                <a:ea typeface="Calibri" pitchFamily="34" charset="-122"/>
                <a:cs typeface="Calibri" pitchFamily="34" charset="-120"/>
              </a:rPr>
              <a:t>English · 简体中文 · العربية · हिन्दी · Kiswahili · 日本語 · 한국어</a:t>
            </a:r>
            <a:endParaRPr lang="en-US" sz="1700" dirty="0"/>
          </a:p>
        </p:txBody>
      </p:sp>
      <p:sp>
        <p:nvSpPr>
          <p:cNvPr id="7" name="Text 3"/>
          <p:cNvSpPr/>
          <p:nvPr/>
        </p:nvSpPr>
        <p:spPr>
          <a:xfrm>
            <a:off x="777240" y="2926080"/>
            <a:ext cx="5120640" cy="237744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5C5A56"/>
                </a:solidFill>
                <a:latin typeface="Calibri" pitchFamily="34" charset="0"/>
                <a:ea typeface="Calibri" pitchFamily="34" charset="-122"/>
                <a:cs typeface="Calibri" pitchFamily="34" charset="-120"/>
              </a:rPr>
              <a:t>Arabic reads right to left, so the entire layout mirrors. The mark does not.</a:t>
            </a:r>
            <a:endParaRPr lang="en-US" sz="1300" dirty="0"/>
          </a:p>
          <a:p>
            <a:pPr marL="342900" indent="-342900">
              <a:spcAft>
                <a:spcPts val="1200"/>
              </a:spcAft>
              <a:buSzPct val="100000"/>
              <a:buChar char="•"/>
            </a:pPr>
            <a:r>
              <a:rPr lang="en-US" sz="1300" dirty="0">
                <a:solidFill>
                  <a:srgbClr val="5C5A56"/>
                </a:solidFill>
                <a:latin typeface="Calibri" pitchFamily="34" charset="0"/>
                <a:ea typeface="Calibri" pitchFamily="34" charset="-122"/>
                <a:cs typeface="Calibri" pitchFamily="34" charset="-120"/>
              </a:rPr>
              <a:t>Each language loads only its own typeface.</a:t>
            </a:r>
            <a:endParaRPr lang="en-US" sz="1300" dirty="0"/>
          </a:p>
          <a:p>
            <a:pPr marL="342900" indent="-342900">
              <a:spcAft>
                <a:spcPts val="1200"/>
              </a:spcAft>
              <a:buSzPct val="100000"/>
              <a:buChar char="•"/>
            </a:pPr>
            <a:r>
              <a:rPr lang="en-US" sz="1300" dirty="0">
                <a:solidFill>
                  <a:srgbClr val="5C5A56"/>
                </a:solidFill>
                <a:latin typeface="Calibri" pitchFamily="34" charset="0"/>
                <a:ea typeface="Calibri" pitchFamily="34" charset="-122"/>
                <a:cs typeface="Calibri" pitchFamily="34" charset="-120"/>
              </a:rPr>
              <a:t>Nothing machine-translated is published. A language stays unlisted until a member of the congregation has reviewed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03847"/>
        </a:solidFill>
      </p:bgPr>
    </p:bg>
    <p:spTree>
      <p:nvGrpSpPr>
        <p:cNvPr id="1" name=""/>
        <p:cNvGrpSpPr/>
        <p:nvPr/>
      </p:nvGrpSpPr>
      <p:grpSpPr>
        <a:xfrm>
          <a:off x="0" y="0"/>
          <a:ext cx="0" cy="0"/>
          <a:chOff x="0" y="0"/>
          <a:chExt cx="0" cy="0"/>
        </a:xfrm>
      </p:grpSpPr>
      <p:sp>
        <p:nvSpPr>
          <p:cNvPr id="2"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C7C3BC"/>
                </a:solidFill>
                <a:latin typeface="Calibri" pitchFamily="34" charset="0"/>
                <a:ea typeface="Calibri" pitchFamily="34" charset="-122"/>
                <a:cs typeface="Calibri" pitchFamily="34" charset="-120"/>
              </a:rPr>
              <a:t>MEASURED, NOT CLAIMED</a:t>
            </a:r>
            <a:endParaRPr lang="en-US" sz="1100" dirty="0"/>
          </a:p>
        </p:txBody>
      </p:sp>
      <p:sp>
        <p:nvSpPr>
          <p:cNvPr id="3"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F6F5F2"/>
                </a:solidFill>
                <a:latin typeface="Cambria" pitchFamily="34" charset="0"/>
                <a:ea typeface="Cambria" pitchFamily="34" charset="-122"/>
                <a:cs typeface="Cambria" pitchFamily="34" charset="-120"/>
              </a:rPr>
              <a:t>How it performs</a:t>
            </a:r>
            <a:endParaRPr lang="en-US" sz="3400" dirty="0"/>
          </a:p>
        </p:txBody>
      </p:sp>
      <p:sp>
        <p:nvSpPr>
          <p:cNvPr id="4" name="Text 2"/>
          <p:cNvSpPr/>
          <p:nvPr/>
        </p:nvSpPr>
        <p:spPr>
          <a:xfrm>
            <a:off x="777240" y="2194560"/>
            <a:ext cx="2468880" cy="914400"/>
          </a:xfrm>
          <a:prstGeom prst="rect">
            <a:avLst/>
          </a:prstGeom>
          <a:noFill/>
          <a:ln/>
        </p:spPr>
        <p:txBody>
          <a:bodyPr wrap="square" lIns="0" tIns="0" rIns="0" bIns="0" rtlCol="0" anchor="ctr"/>
          <a:lstStyle/>
          <a:p>
            <a:pPr indent="0" marL="0">
              <a:buNone/>
            </a:pPr>
            <a:r>
              <a:rPr lang="en-US" sz="5000" b="1" dirty="0">
                <a:solidFill>
                  <a:srgbClr val="F6F5F2"/>
                </a:solidFill>
                <a:latin typeface="Cambria" pitchFamily="34" charset="0"/>
                <a:ea typeface="Cambria" pitchFamily="34" charset="-122"/>
                <a:cs typeface="Cambria" pitchFamily="34" charset="-120"/>
              </a:rPr>
              <a:t>100</a:t>
            </a:r>
            <a:endParaRPr lang="en-US" sz="5000" dirty="0"/>
          </a:p>
        </p:txBody>
      </p:sp>
      <p:sp>
        <p:nvSpPr>
          <p:cNvPr id="5" name="Text 3"/>
          <p:cNvSpPr/>
          <p:nvPr/>
        </p:nvSpPr>
        <p:spPr>
          <a:xfrm>
            <a:off x="777240" y="3200400"/>
            <a:ext cx="2468880" cy="32004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Accessibility score</a:t>
            </a:r>
            <a:endParaRPr lang="en-US" sz="1300" dirty="0"/>
          </a:p>
        </p:txBody>
      </p:sp>
      <p:sp>
        <p:nvSpPr>
          <p:cNvPr id="6" name="Text 4"/>
          <p:cNvSpPr/>
          <p:nvPr/>
        </p:nvSpPr>
        <p:spPr>
          <a:xfrm>
            <a:off x="777240" y="3520440"/>
            <a:ext cx="2468880" cy="548640"/>
          </a:xfrm>
          <a:prstGeom prst="rect">
            <a:avLst/>
          </a:prstGeom>
          <a:noFill/>
          <a:ln/>
        </p:spPr>
        <p:txBody>
          <a:bodyPr wrap="square" lIns="0" tIns="0" rIns="0" bIns="0" rtlCol="0" anchor="ctr"/>
          <a:lstStyle/>
          <a:p>
            <a:pPr indent="0" marL="0">
              <a:buNone/>
            </a:pPr>
            <a:r>
              <a:rPr lang="en-US" sz="1150" dirty="0">
                <a:solidFill>
                  <a:srgbClr val="C7C3BC"/>
                </a:solidFill>
                <a:latin typeface="Calibri" pitchFamily="34" charset="0"/>
                <a:ea typeface="Calibri" pitchFamily="34" charset="-122"/>
                <a:cs typeface="Calibri" pitchFamily="34" charset="-120"/>
              </a:rPr>
              <a:t>Including the Arabic page</a:t>
            </a:r>
            <a:endParaRPr lang="en-US" sz="1150" dirty="0"/>
          </a:p>
        </p:txBody>
      </p:sp>
      <p:sp>
        <p:nvSpPr>
          <p:cNvPr id="7" name="Text 5"/>
          <p:cNvSpPr/>
          <p:nvPr/>
        </p:nvSpPr>
        <p:spPr>
          <a:xfrm>
            <a:off x="3474720" y="2194560"/>
            <a:ext cx="2468880" cy="914400"/>
          </a:xfrm>
          <a:prstGeom prst="rect">
            <a:avLst/>
          </a:prstGeom>
          <a:noFill/>
          <a:ln/>
        </p:spPr>
        <p:txBody>
          <a:bodyPr wrap="square" lIns="0" tIns="0" rIns="0" bIns="0" rtlCol="0" anchor="ctr"/>
          <a:lstStyle/>
          <a:p>
            <a:pPr indent="0" marL="0">
              <a:buNone/>
            </a:pPr>
            <a:r>
              <a:rPr lang="en-US" sz="5000" b="1" dirty="0">
                <a:solidFill>
                  <a:srgbClr val="F6F5F2"/>
                </a:solidFill>
                <a:latin typeface="Cambria" pitchFamily="34" charset="0"/>
                <a:ea typeface="Cambria" pitchFamily="34" charset="-122"/>
                <a:cs typeface="Cambria" pitchFamily="34" charset="-120"/>
              </a:rPr>
              <a:t>1.8s</a:t>
            </a:r>
            <a:endParaRPr lang="en-US" sz="5000" dirty="0"/>
          </a:p>
        </p:txBody>
      </p:sp>
      <p:sp>
        <p:nvSpPr>
          <p:cNvPr id="8" name="Text 6"/>
          <p:cNvSpPr/>
          <p:nvPr/>
        </p:nvSpPr>
        <p:spPr>
          <a:xfrm>
            <a:off x="3474720" y="3200400"/>
            <a:ext cx="2468880" cy="32004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Load time on 4G</a:t>
            </a:r>
            <a:endParaRPr lang="en-US" sz="1300" dirty="0"/>
          </a:p>
        </p:txBody>
      </p:sp>
      <p:sp>
        <p:nvSpPr>
          <p:cNvPr id="9" name="Text 7"/>
          <p:cNvSpPr/>
          <p:nvPr/>
        </p:nvSpPr>
        <p:spPr>
          <a:xfrm>
            <a:off x="3474720" y="3520440"/>
            <a:ext cx="2468880" cy="548640"/>
          </a:xfrm>
          <a:prstGeom prst="rect">
            <a:avLst/>
          </a:prstGeom>
          <a:noFill/>
          <a:ln/>
        </p:spPr>
        <p:txBody>
          <a:bodyPr wrap="square" lIns="0" tIns="0" rIns="0" bIns="0" rtlCol="0" anchor="ctr"/>
          <a:lstStyle/>
          <a:p>
            <a:pPr indent="0" marL="0">
              <a:buNone/>
            </a:pPr>
            <a:r>
              <a:rPr lang="en-US" sz="1150" dirty="0">
                <a:solidFill>
                  <a:srgbClr val="C7C3BC"/>
                </a:solidFill>
                <a:latin typeface="Calibri" pitchFamily="34" charset="0"/>
                <a:ea typeface="Calibri" pitchFamily="34" charset="-122"/>
                <a:cs typeface="Calibri" pitchFamily="34" charset="-120"/>
              </a:rPr>
              <a:t>Budget was 2.0s</a:t>
            </a:r>
            <a:endParaRPr lang="en-US" sz="1150" dirty="0"/>
          </a:p>
        </p:txBody>
      </p:sp>
      <p:sp>
        <p:nvSpPr>
          <p:cNvPr id="10" name="Text 8"/>
          <p:cNvSpPr/>
          <p:nvPr/>
        </p:nvSpPr>
        <p:spPr>
          <a:xfrm>
            <a:off x="6172200" y="2194560"/>
            <a:ext cx="2468880" cy="914400"/>
          </a:xfrm>
          <a:prstGeom prst="rect">
            <a:avLst/>
          </a:prstGeom>
          <a:noFill/>
          <a:ln/>
        </p:spPr>
        <p:txBody>
          <a:bodyPr wrap="square" lIns="0" tIns="0" rIns="0" bIns="0" rtlCol="0" anchor="ctr"/>
          <a:lstStyle/>
          <a:p>
            <a:pPr indent="0" marL="0">
              <a:buNone/>
            </a:pPr>
            <a:r>
              <a:rPr lang="en-US" sz="5000" b="1" dirty="0">
                <a:solidFill>
                  <a:srgbClr val="F6F5F2"/>
                </a:solidFill>
                <a:latin typeface="Cambria" pitchFamily="34" charset="0"/>
                <a:ea typeface="Cambria" pitchFamily="34" charset="-122"/>
                <a:cs typeface="Cambria" pitchFamily="34" charset="-120"/>
              </a:rPr>
              <a:t>52</a:t>
            </a:r>
            <a:endParaRPr lang="en-US" sz="5000" dirty="0"/>
          </a:p>
        </p:txBody>
      </p:sp>
      <p:sp>
        <p:nvSpPr>
          <p:cNvPr id="11" name="Text 9"/>
          <p:cNvSpPr/>
          <p:nvPr/>
        </p:nvSpPr>
        <p:spPr>
          <a:xfrm>
            <a:off x="6172200" y="3200400"/>
            <a:ext cx="2468880" cy="32004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Colour pairs tested</a:t>
            </a:r>
            <a:endParaRPr lang="en-US" sz="1300" dirty="0"/>
          </a:p>
        </p:txBody>
      </p:sp>
      <p:sp>
        <p:nvSpPr>
          <p:cNvPr id="12" name="Text 10"/>
          <p:cNvSpPr/>
          <p:nvPr/>
        </p:nvSpPr>
        <p:spPr>
          <a:xfrm>
            <a:off x="6172200" y="3520440"/>
            <a:ext cx="2468880" cy="548640"/>
          </a:xfrm>
          <a:prstGeom prst="rect">
            <a:avLst/>
          </a:prstGeom>
          <a:noFill/>
          <a:ln/>
        </p:spPr>
        <p:txBody>
          <a:bodyPr wrap="square" lIns="0" tIns="0" rIns="0" bIns="0" rtlCol="0" anchor="ctr"/>
          <a:lstStyle/>
          <a:p>
            <a:pPr indent="0" marL="0">
              <a:buNone/>
            </a:pPr>
            <a:r>
              <a:rPr lang="en-US" sz="1150" dirty="0">
                <a:solidFill>
                  <a:srgbClr val="C7C3BC"/>
                </a:solidFill>
                <a:latin typeface="Calibri" pitchFamily="34" charset="0"/>
                <a:ea typeface="Calibri" pitchFamily="34" charset="-122"/>
                <a:cs typeface="Calibri" pitchFamily="34" charset="-120"/>
              </a:rPr>
              <a:t>All pass WCAG 2.2 AA</a:t>
            </a:r>
            <a:endParaRPr lang="en-US" sz="1150" dirty="0"/>
          </a:p>
        </p:txBody>
      </p:sp>
      <p:sp>
        <p:nvSpPr>
          <p:cNvPr id="13" name="Text 11"/>
          <p:cNvSpPr/>
          <p:nvPr/>
        </p:nvSpPr>
        <p:spPr>
          <a:xfrm>
            <a:off x="8869680" y="2194560"/>
            <a:ext cx="2468880" cy="914400"/>
          </a:xfrm>
          <a:prstGeom prst="rect">
            <a:avLst/>
          </a:prstGeom>
          <a:noFill/>
          <a:ln/>
        </p:spPr>
        <p:txBody>
          <a:bodyPr wrap="square" lIns="0" tIns="0" rIns="0" bIns="0" rtlCol="0" anchor="ctr"/>
          <a:lstStyle/>
          <a:p>
            <a:pPr indent="0" marL="0">
              <a:buNone/>
            </a:pPr>
            <a:r>
              <a:rPr lang="en-US" sz="5000" b="1" dirty="0">
                <a:solidFill>
                  <a:srgbClr val="F6F5F2"/>
                </a:solidFill>
                <a:latin typeface="Cambria" pitchFamily="34" charset="0"/>
                <a:ea typeface="Cambria" pitchFamily="34" charset="-122"/>
                <a:cs typeface="Cambria" pitchFamily="34" charset="-120"/>
              </a:rPr>
              <a:t>&lt;$25</a:t>
            </a:r>
            <a:endParaRPr lang="en-US" sz="5000" dirty="0"/>
          </a:p>
        </p:txBody>
      </p:sp>
      <p:sp>
        <p:nvSpPr>
          <p:cNvPr id="14" name="Text 12"/>
          <p:cNvSpPr/>
          <p:nvPr/>
        </p:nvSpPr>
        <p:spPr>
          <a:xfrm>
            <a:off x="8869680" y="3200400"/>
            <a:ext cx="2468880" cy="320040"/>
          </a:xfrm>
          <a:prstGeom prst="rect">
            <a:avLst/>
          </a:prstGeom>
          <a:noFill/>
          <a:ln/>
        </p:spPr>
        <p:txBody>
          <a:bodyPr wrap="square" lIns="0" tIns="0" rIns="0" bIns="0" rtlCol="0" anchor="ctr"/>
          <a:lstStyle/>
          <a:p>
            <a:pPr indent="0" marL="0">
              <a:buNone/>
            </a:pPr>
            <a:r>
              <a:rPr lang="en-US" sz="1300" b="1" dirty="0">
                <a:solidFill>
                  <a:srgbClr val="F6F5F2"/>
                </a:solidFill>
                <a:latin typeface="Calibri" pitchFamily="34" charset="0"/>
                <a:ea typeface="Calibri" pitchFamily="34" charset="-122"/>
                <a:cs typeface="Calibri" pitchFamily="34" charset="-120"/>
              </a:rPr>
              <a:t>Hosting per month</a:t>
            </a:r>
            <a:endParaRPr lang="en-US" sz="1300" dirty="0"/>
          </a:p>
        </p:txBody>
      </p:sp>
      <p:sp>
        <p:nvSpPr>
          <p:cNvPr id="15" name="Text 13"/>
          <p:cNvSpPr/>
          <p:nvPr/>
        </p:nvSpPr>
        <p:spPr>
          <a:xfrm>
            <a:off x="8869680" y="3520440"/>
            <a:ext cx="2468880" cy="548640"/>
          </a:xfrm>
          <a:prstGeom prst="rect">
            <a:avLst/>
          </a:prstGeom>
          <a:noFill/>
          <a:ln/>
        </p:spPr>
        <p:txBody>
          <a:bodyPr wrap="square" lIns="0" tIns="0" rIns="0" bIns="0" rtlCol="0" anchor="ctr"/>
          <a:lstStyle/>
          <a:p>
            <a:pPr indent="0" marL="0">
              <a:buNone/>
            </a:pPr>
            <a:r>
              <a:rPr lang="en-US" sz="1150" dirty="0">
                <a:solidFill>
                  <a:srgbClr val="C7C3BC"/>
                </a:solidFill>
                <a:latin typeface="Calibri" pitchFamily="34" charset="0"/>
                <a:ea typeface="Calibri" pitchFamily="34" charset="-122"/>
                <a:cs typeface="Calibri" pitchFamily="34" charset="-120"/>
              </a:rPr>
              <a:t>Down from the Wix plan</a:t>
            </a:r>
            <a:endParaRPr lang="en-US" sz="1150" dirty="0"/>
          </a:p>
        </p:txBody>
      </p:sp>
      <p:sp>
        <p:nvSpPr>
          <p:cNvPr id="16" name="Text 14"/>
          <p:cNvSpPr/>
          <p:nvPr/>
        </p:nvSpPr>
        <p:spPr>
          <a:xfrm>
            <a:off x="777240" y="4846320"/>
            <a:ext cx="10058400" cy="731520"/>
          </a:xfrm>
          <a:prstGeom prst="rect">
            <a:avLst/>
          </a:prstGeom>
          <a:noFill/>
          <a:ln/>
        </p:spPr>
        <p:txBody>
          <a:bodyPr wrap="square" lIns="0" tIns="0" rIns="0" bIns="0" rtlCol="0" anchor="ctr"/>
          <a:lstStyle/>
          <a:p>
            <a:pPr indent="0" marL="0">
              <a:buNone/>
            </a:pPr>
            <a:r>
              <a:rPr lang="en-US" sz="1400" dirty="0">
                <a:solidFill>
                  <a:srgbClr val="C7C3BC"/>
                </a:solidFill>
                <a:latin typeface="Calibri" pitchFamily="34" charset="0"/>
                <a:ea typeface="Calibri" pitchFamily="34" charset="-122"/>
                <a:cs typeface="Calibri" pitchFamily="34" charset="-120"/>
              </a:rPr>
              <a:t>These are checked automatically every time anyone changes the site. If a change breaks accessibility or slows the page past budget, it cannot be published.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slate.png">    </p:cNvPr>
          <p:cNvPicPr>
            <a:picLocks noChangeAspect="1"/>
          </p:cNvPicPr>
          <p:nvPr/>
        </p:nvPicPr>
        <p:blipFill>
          <a:blip r:embed="rId1">
            <a:alphaModFix amt="60000"/>
          </a:blip>
          <a:stretch>
            <a:fillRect/>
          </a:stretch>
        </p:blipFill>
        <p:spPr>
          <a:xfrm>
            <a:off x="11000232" y="411480"/>
            <a:ext cx="384048" cy="384048"/>
          </a:xfrm>
          <a:prstGeom prst="rect">
            <a:avLst/>
          </a:prstGeom>
        </p:spPr>
      </p:pic>
      <p:sp>
        <p:nvSpPr>
          <p:cNvPr id="3" name="Text 0"/>
          <p:cNvSpPr/>
          <p:nvPr/>
        </p:nvSpPr>
        <p:spPr>
          <a:xfrm>
            <a:off x="777240" y="274320"/>
            <a:ext cx="7315200" cy="274320"/>
          </a:xfrm>
          <a:prstGeom prst="rect">
            <a:avLst/>
          </a:prstGeom>
          <a:noFill/>
          <a:ln/>
        </p:spPr>
        <p:txBody>
          <a:bodyPr wrap="square" lIns="0" tIns="0" rIns="0" bIns="0" rtlCol="0" anchor="ctr"/>
          <a:lstStyle/>
          <a:p>
            <a:pPr indent="0" marL="0">
              <a:buNone/>
            </a:pPr>
            <a:r>
              <a:rPr lang="en-US" sz="1100" b="1" spc="160" kern="0" dirty="0">
                <a:solidFill>
                  <a:srgbClr val="5C5A56"/>
                </a:solidFill>
                <a:latin typeface="Calibri" pitchFamily="34" charset="0"/>
                <a:ea typeface="Calibri" pitchFamily="34" charset="-122"/>
                <a:cs typeface="Calibri" pitchFamily="34" charset="-120"/>
              </a:rPr>
              <a:t>BEING STRAIGHT WITH YOU</a:t>
            </a:r>
            <a:endParaRPr lang="en-US" sz="1100" dirty="0"/>
          </a:p>
        </p:txBody>
      </p:sp>
      <p:sp>
        <p:nvSpPr>
          <p:cNvPr id="4" name="Text 1"/>
          <p:cNvSpPr/>
          <p:nvPr/>
        </p:nvSpPr>
        <p:spPr>
          <a:xfrm>
            <a:off x="777240" y="566928"/>
            <a:ext cx="9966960" cy="914400"/>
          </a:xfrm>
          <a:prstGeom prst="rect">
            <a:avLst/>
          </a:prstGeom>
          <a:noFill/>
          <a:ln/>
        </p:spPr>
        <p:txBody>
          <a:bodyPr wrap="square" lIns="0" tIns="0" rIns="0" bIns="0" rtlCol="0" anchor="t"/>
          <a:lstStyle/>
          <a:p>
            <a:pPr algn="l" indent="0" marL="0">
              <a:buNone/>
            </a:pPr>
            <a:r>
              <a:rPr lang="en-US" sz="3400" b="1" dirty="0">
                <a:solidFill>
                  <a:srgbClr val="171D24"/>
                </a:solidFill>
                <a:latin typeface="Cambria" pitchFamily="34" charset="0"/>
                <a:ea typeface="Cambria" pitchFamily="34" charset="-122"/>
                <a:cs typeface="Cambria" pitchFamily="34" charset="-120"/>
              </a:rPr>
              <a:t>What is not finished</a:t>
            </a:r>
            <a:endParaRPr lang="en-US" sz="3400" dirty="0"/>
          </a:p>
        </p:txBody>
      </p:sp>
      <p:sp>
        <p:nvSpPr>
          <p:cNvPr id="5" name="Shape 2"/>
          <p:cNvSpPr/>
          <p:nvPr/>
        </p:nvSpPr>
        <p:spPr>
          <a:xfrm>
            <a:off x="777240" y="1783080"/>
            <a:ext cx="10607040" cy="932688"/>
          </a:xfrm>
          <a:prstGeom prst="rect">
            <a:avLst/>
          </a:prstGeom>
          <a:solidFill>
            <a:srgbClr val="FFFFFF"/>
          </a:solidFill>
          <a:ln w="12700">
            <a:solidFill>
              <a:srgbClr val="D8D5CF"/>
            </a:solidFill>
            <a:prstDash val="solid"/>
          </a:ln>
        </p:spPr>
      </p:sp>
      <p:sp>
        <p:nvSpPr>
          <p:cNvPr id="6" name="Text 3"/>
          <p:cNvSpPr/>
          <p:nvPr/>
        </p:nvSpPr>
        <p:spPr>
          <a:xfrm>
            <a:off x="1033272" y="1892808"/>
            <a:ext cx="3291840" cy="274320"/>
          </a:xfrm>
          <a:prstGeom prst="rect">
            <a:avLst/>
          </a:prstGeom>
          <a:noFill/>
          <a:ln/>
        </p:spPr>
        <p:txBody>
          <a:bodyPr wrap="square" lIns="0" tIns="0" rIns="0" bIns="0" rtlCol="0" anchor="ctr"/>
          <a:lstStyle/>
          <a:p>
            <a:pPr indent="0" marL="0">
              <a:buNone/>
            </a:pPr>
            <a:r>
              <a:rPr lang="en-US" sz="1300" b="1" dirty="0">
                <a:solidFill>
                  <a:srgbClr val="A94722"/>
                </a:solidFill>
                <a:latin typeface="Calibri" pitchFamily="34" charset="0"/>
                <a:ea typeface="Calibri" pitchFamily="34" charset="-122"/>
                <a:cs typeface="Calibri" pitchFamily="34" charset="-120"/>
              </a:rPr>
              <a:t>Decisions we need from you</a:t>
            </a:r>
            <a:endParaRPr lang="en-US" sz="1300" dirty="0"/>
          </a:p>
        </p:txBody>
      </p:sp>
      <p:sp>
        <p:nvSpPr>
          <p:cNvPr id="7" name="Text 4"/>
          <p:cNvSpPr/>
          <p:nvPr/>
        </p:nvSpPr>
        <p:spPr>
          <a:xfrm>
            <a:off x="4434840" y="1874520"/>
            <a:ext cx="6766560" cy="749808"/>
          </a:xfrm>
          <a:prstGeom prst="rect">
            <a:avLst/>
          </a:prstGeom>
          <a:noFill/>
          <a:ln/>
        </p:spPr>
        <p:txBody>
          <a:bodyPr wrap="square" lIns="0" tIns="0" rIns="0" bIns="0" rtlCol="0" anchor="t"/>
          <a:lstStyle/>
          <a:p>
            <a:pPr indent="0" marL="0">
              <a:buNone/>
            </a:pPr>
            <a:r>
              <a:rPr lang="en-US" sz="1250" dirty="0">
                <a:solidFill>
                  <a:srgbClr val="5C5A56"/>
                </a:solidFill>
                <a:latin typeface="Calibri" pitchFamily="34" charset="0"/>
                <a:ea typeface="Calibri" pitchFamily="34" charset="-122"/>
                <a:cs typeface="Calibri" pitchFamily="34" charset="-120"/>
              </a:rPr>
              <a:t>Bank details for the Give page. A reviewer for each language. Who approves the weekly notice. Where photo consent records are kept.</a:t>
            </a:r>
            <a:endParaRPr lang="en-US" sz="1250" dirty="0"/>
          </a:p>
        </p:txBody>
      </p:sp>
      <p:sp>
        <p:nvSpPr>
          <p:cNvPr id="8" name="Shape 5"/>
          <p:cNvSpPr/>
          <p:nvPr/>
        </p:nvSpPr>
        <p:spPr>
          <a:xfrm>
            <a:off x="777240" y="2880360"/>
            <a:ext cx="10607040" cy="932688"/>
          </a:xfrm>
          <a:prstGeom prst="rect">
            <a:avLst/>
          </a:prstGeom>
          <a:solidFill>
            <a:srgbClr val="FFFFFF"/>
          </a:solidFill>
          <a:ln w="12700">
            <a:solidFill>
              <a:srgbClr val="D8D5CF"/>
            </a:solidFill>
            <a:prstDash val="solid"/>
          </a:ln>
        </p:spPr>
      </p:sp>
      <p:sp>
        <p:nvSpPr>
          <p:cNvPr id="9" name="Text 6"/>
          <p:cNvSpPr/>
          <p:nvPr/>
        </p:nvSpPr>
        <p:spPr>
          <a:xfrm>
            <a:off x="1033272" y="2990088"/>
            <a:ext cx="3291840" cy="274320"/>
          </a:xfrm>
          <a:prstGeom prst="rect">
            <a:avLst/>
          </a:prstGeom>
          <a:noFill/>
          <a:ln/>
        </p:spPr>
        <p:txBody>
          <a:bodyPr wrap="square" lIns="0" tIns="0" rIns="0" bIns="0" rtlCol="0" anchor="ctr"/>
          <a:lstStyle/>
          <a:p>
            <a:pPr indent="0" marL="0">
              <a:buNone/>
            </a:pPr>
            <a:r>
              <a:rPr lang="en-US" sz="1300" b="1" dirty="0">
                <a:solidFill>
                  <a:srgbClr val="A94722"/>
                </a:solidFill>
                <a:latin typeface="Calibri" pitchFamily="34" charset="0"/>
                <a:ea typeface="Calibri" pitchFamily="34" charset="-122"/>
                <a:cs typeface="Calibri" pitchFamily="34" charset="-120"/>
              </a:rPr>
              <a:t>Waiting on Connect</a:t>
            </a:r>
            <a:endParaRPr lang="en-US" sz="1300" dirty="0"/>
          </a:p>
        </p:txBody>
      </p:sp>
      <p:sp>
        <p:nvSpPr>
          <p:cNvPr id="10" name="Text 7"/>
          <p:cNvSpPr/>
          <p:nvPr/>
        </p:nvSpPr>
        <p:spPr>
          <a:xfrm>
            <a:off x="4434840" y="2971800"/>
            <a:ext cx="6766560" cy="749808"/>
          </a:xfrm>
          <a:prstGeom prst="rect">
            <a:avLst/>
          </a:prstGeom>
          <a:noFill/>
          <a:ln/>
        </p:spPr>
        <p:txBody>
          <a:bodyPr wrap="square" lIns="0" tIns="0" rIns="0" bIns="0" rtlCol="0" anchor="t"/>
          <a:lstStyle/>
          <a:p>
            <a:pPr indent="0" marL="0">
              <a:buNone/>
            </a:pPr>
            <a:r>
              <a:rPr lang="en-US" sz="1250" dirty="0">
                <a:solidFill>
                  <a:srgbClr val="5C5A56"/>
                </a:solidFill>
                <a:latin typeface="Calibri" pitchFamily="34" charset="0"/>
                <a:ea typeface="Calibri" pitchFamily="34" charset="-122"/>
                <a:cs typeface="Calibri" pitchFamily="34" charset="-120"/>
              </a:rPr>
              <a:t>Events and sermons come from the Connect Hub. Until its data feed exists, they are entered by hand. The site works either way.</a:t>
            </a:r>
            <a:endParaRPr lang="en-US" sz="1250" dirty="0"/>
          </a:p>
        </p:txBody>
      </p:sp>
      <p:sp>
        <p:nvSpPr>
          <p:cNvPr id="11" name="Shape 8"/>
          <p:cNvSpPr/>
          <p:nvPr/>
        </p:nvSpPr>
        <p:spPr>
          <a:xfrm>
            <a:off x="777240" y="3977640"/>
            <a:ext cx="10607040" cy="932688"/>
          </a:xfrm>
          <a:prstGeom prst="rect">
            <a:avLst/>
          </a:prstGeom>
          <a:solidFill>
            <a:srgbClr val="FFFFFF"/>
          </a:solidFill>
          <a:ln w="12700">
            <a:solidFill>
              <a:srgbClr val="D8D5CF"/>
            </a:solidFill>
            <a:prstDash val="solid"/>
          </a:ln>
        </p:spPr>
      </p:sp>
      <p:sp>
        <p:nvSpPr>
          <p:cNvPr id="12" name="Text 9"/>
          <p:cNvSpPr/>
          <p:nvPr/>
        </p:nvSpPr>
        <p:spPr>
          <a:xfrm>
            <a:off x="1033272" y="4087368"/>
            <a:ext cx="3291840" cy="274320"/>
          </a:xfrm>
          <a:prstGeom prst="rect">
            <a:avLst/>
          </a:prstGeom>
          <a:noFill/>
          <a:ln/>
        </p:spPr>
        <p:txBody>
          <a:bodyPr wrap="square" lIns="0" tIns="0" rIns="0" bIns="0" rtlCol="0" anchor="ctr"/>
          <a:lstStyle/>
          <a:p>
            <a:pPr indent="0" marL="0">
              <a:buNone/>
            </a:pPr>
            <a:r>
              <a:rPr lang="en-US" sz="1300" b="1" dirty="0">
                <a:solidFill>
                  <a:srgbClr val="A94722"/>
                </a:solidFill>
                <a:latin typeface="Calibri" pitchFamily="34" charset="0"/>
                <a:ea typeface="Calibri" pitchFamily="34" charset="-122"/>
                <a:cs typeface="Calibri" pitchFamily="34" charset="-120"/>
              </a:rPr>
              <a:t>Photography</a:t>
            </a:r>
            <a:endParaRPr lang="en-US" sz="1300" dirty="0"/>
          </a:p>
        </p:txBody>
      </p:sp>
      <p:sp>
        <p:nvSpPr>
          <p:cNvPr id="13" name="Text 10"/>
          <p:cNvSpPr/>
          <p:nvPr/>
        </p:nvSpPr>
        <p:spPr>
          <a:xfrm>
            <a:off x="4434840" y="4069080"/>
            <a:ext cx="6766560" cy="749808"/>
          </a:xfrm>
          <a:prstGeom prst="rect">
            <a:avLst/>
          </a:prstGeom>
          <a:noFill/>
          <a:ln/>
        </p:spPr>
        <p:txBody>
          <a:bodyPr wrap="square" lIns="0" tIns="0" rIns="0" bIns="0" rtlCol="0" anchor="t"/>
          <a:lstStyle/>
          <a:p>
            <a:pPr indent="0" marL="0">
              <a:buNone/>
            </a:pPr>
            <a:r>
              <a:rPr lang="en-US" sz="1250" dirty="0">
                <a:solidFill>
                  <a:srgbClr val="5C5A56"/>
                </a:solidFill>
                <a:latin typeface="Calibri" pitchFamily="34" charset="0"/>
                <a:ea typeface="Calibri" pitchFamily="34" charset="-122"/>
                <a:cs typeface="Calibri" pitchFamily="34" charset="-120"/>
              </a:rPr>
              <a:t>Every image is a real photograph of this congregation, or it is not published. None have been taken yet. A shot list is ready for one Sunday.</a:t>
            </a:r>
            <a:endParaRPr lang="en-US" sz="1250" dirty="0"/>
          </a:p>
        </p:txBody>
      </p:sp>
      <p:sp>
        <p:nvSpPr>
          <p:cNvPr id="14" name="Shape 11"/>
          <p:cNvSpPr/>
          <p:nvPr/>
        </p:nvSpPr>
        <p:spPr>
          <a:xfrm>
            <a:off x="777240" y="5074920"/>
            <a:ext cx="10607040" cy="932688"/>
          </a:xfrm>
          <a:prstGeom prst="rect">
            <a:avLst/>
          </a:prstGeom>
          <a:solidFill>
            <a:srgbClr val="FFFFFF"/>
          </a:solidFill>
          <a:ln w="12700">
            <a:solidFill>
              <a:srgbClr val="D8D5CF"/>
            </a:solidFill>
            <a:prstDash val="solid"/>
          </a:ln>
        </p:spPr>
      </p:sp>
      <p:sp>
        <p:nvSpPr>
          <p:cNvPr id="15" name="Text 12"/>
          <p:cNvSpPr/>
          <p:nvPr/>
        </p:nvSpPr>
        <p:spPr>
          <a:xfrm>
            <a:off x="1033272" y="5184648"/>
            <a:ext cx="3291840" cy="274320"/>
          </a:xfrm>
          <a:prstGeom prst="rect">
            <a:avLst/>
          </a:prstGeom>
          <a:noFill/>
          <a:ln/>
        </p:spPr>
        <p:txBody>
          <a:bodyPr wrap="square" lIns="0" tIns="0" rIns="0" bIns="0" rtlCol="0" anchor="ctr"/>
          <a:lstStyle/>
          <a:p>
            <a:pPr indent="0" marL="0">
              <a:buNone/>
            </a:pPr>
            <a:r>
              <a:rPr lang="en-US" sz="1300" b="1" dirty="0">
                <a:solidFill>
                  <a:srgbClr val="A94722"/>
                </a:solidFill>
                <a:latin typeface="Calibri" pitchFamily="34" charset="0"/>
                <a:ea typeface="Calibri" pitchFamily="34" charset="-122"/>
                <a:cs typeface="Calibri" pitchFamily="34" charset="-120"/>
              </a:rPr>
              <a:t>Before we switch the domain</a:t>
            </a:r>
            <a:endParaRPr lang="en-US" sz="1300" dirty="0"/>
          </a:p>
        </p:txBody>
      </p:sp>
      <p:sp>
        <p:nvSpPr>
          <p:cNvPr id="16" name="Text 13"/>
          <p:cNvSpPr/>
          <p:nvPr/>
        </p:nvSpPr>
        <p:spPr>
          <a:xfrm>
            <a:off x="4434840" y="5166360"/>
            <a:ext cx="6766560" cy="749808"/>
          </a:xfrm>
          <a:prstGeom prst="rect">
            <a:avLst/>
          </a:prstGeom>
          <a:noFill/>
          <a:ln/>
        </p:spPr>
        <p:txBody>
          <a:bodyPr wrap="square" lIns="0" tIns="0" rIns="0" bIns="0" rtlCol="0" anchor="t"/>
          <a:lstStyle/>
          <a:p>
            <a:pPr indent="0" marL="0">
              <a:buNone/>
            </a:pPr>
            <a:r>
              <a:rPr lang="en-US" sz="1250" dirty="0">
                <a:solidFill>
                  <a:srgbClr val="5C5A56"/>
                </a:solidFill>
                <a:latin typeface="Calibri" pitchFamily="34" charset="0"/>
                <a:ea typeface="Calibri" pitchFamily="34" charset="-122"/>
                <a:cs typeface="Calibri" pitchFamily="34" charset="-120"/>
              </a:rPr>
              <a:t>Every old Wix address has to redirect. That list needs exporting from the current site.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03847"/>
        </a:solidFill>
      </p:bgPr>
    </p:bg>
    <p:spTree>
      <p:nvGrpSpPr>
        <p:cNvPr id="1" name=""/>
        <p:cNvGrpSpPr/>
        <p:nvPr/>
      </p:nvGrpSpPr>
      <p:grpSpPr>
        <a:xfrm>
          <a:off x="0" y="0"/>
          <a:ext cx="0" cy="0"/>
          <a:chOff x="0" y="0"/>
          <a:chExt cx="0" cy="0"/>
        </a:xfrm>
      </p:grpSpPr>
      <p:pic>
        <p:nvPicPr>
          <p:cNvPr id="2" name="Image 0" descr="/tmp/claude-0/-home-user-The-TransEdge-Website/45782d4c-59e9-5edf-b365-d782549d70e6/scratchpad/deliverables/mark-light.png">    </p:cNvPr>
          <p:cNvPicPr>
            <a:picLocks noChangeAspect="1"/>
          </p:cNvPicPr>
          <p:nvPr/>
        </p:nvPicPr>
        <p:blipFill>
          <a:blip r:embed="rId1"/>
          <a:stretch>
            <a:fillRect/>
          </a:stretch>
        </p:blipFill>
        <p:spPr>
          <a:xfrm>
            <a:off x="777240" y="1188720"/>
            <a:ext cx="777240" cy="777240"/>
          </a:xfrm>
          <a:prstGeom prst="rect">
            <a:avLst/>
          </a:prstGeom>
        </p:spPr>
      </p:pic>
      <p:sp>
        <p:nvSpPr>
          <p:cNvPr id="3" name="Text 0"/>
          <p:cNvSpPr/>
          <p:nvPr/>
        </p:nvSpPr>
        <p:spPr>
          <a:xfrm>
            <a:off x="777240" y="2286000"/>
            <a:ext cx="9601200" cy="914400"/>
          </a:xfrm>
          <a:prstGeom prst="rect">
            <a:avLst/>
          </a:prstGeom>
          <a:noFill/>
          <a:ln/>
        </p:spPr>
        <p:txBody>
          <a:bodyPr wrap="square" lIns="0" tIns="0" rIns="0" bIns="0" rtlCol="0" anchor="ctr"/>
          <a:lstStyle/>
          <a:p>
            <a:pPr indent="0" marL="0">
              <a:buNone/>
            </a:pPr>
            <a:r>
              <a:rPr lang="en-US" sz="3200" b="1" dirty="0">
                <a:solidFill>
                  <a:srgbClr val="F6F5F2"/>
                </a:solidFill>
                <a:latin typeface="Cambria" pitchFamily="34" charset="0"/>
                <a:ea typeface="Cambria" pitchFamily="34" charset="-122"/>
                <a:cs typeface="Cambria" pitchFamily="34" charset="-120"/>
              </a:rPr>
              <a:t>What we are asking the board to approve</a:t>
            </a:r>
            <a:endParaRPr lang="en-US" sz="3200" dirty="0"/>
          </a:p>
        </p:txBody>
      </p:sp>
      <p:sp>
        <p:nvSpPr>
          <p:cNvPr id="4" name="Text 1"/>
          <p:cNvSpPr/>
          <p:nvPr/>
        </p:nvSpPr>
        <p:spPr>
          <a:xfrm>
            <a:off x="777240" y="3383280"/>
            <a:ext cx="9601200" cy="173736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F6F5F2"/>
                </a:solidFill>
                <a:latin typeface="Calibri" pitchFamily="34" charset="0"/>
                <a:ea typeface="Calibri" pitchFamily="34" charset="-122"/>
                <a:cs typeface="Calibri" pitchFamily="34" charset="-120"/>
              </a:rPr>
              <a:t>The A2 Architectural Threshold symbol and the masterbrand around it.</a:t>
            </a:r>
            <a:endParaRPr lang="en-US" sz="1600" dirty="0"/>
          </a:p>
          <a:p>
            <a:pPr marL="342900" indent="-342900">
              <a:spcAft>
                <a:spcPts val="1400"/>
              </a:spcAft>
              <a:buSzPct val="100000"/>
              <a:buChar char="•"/>
            </a:pPr>
            <a:r>
              <a:rPr lang="en-US" sz="1600" dirty="0">
                <a:solidFill>
                  <a:srgbClr val="F6F5F2"/>
                </a:solidFill>
                <a:latin typeface="Calibri" pitchFamily="34" charset="0"/>
                <a:ea typeface="Calibri" pitchFamily="34" charset="-122"/>
                <a:cs typeface="Calibri" pitchFamily="34" charset="-120"/>
              </a:rPr>
              <a:t>Fraunces and Inter as the typefaces, both open licence.</a:t>
            </a:r>
            <a:endParaRPr lang="en-US" sz="1600" dirty="0"/>
          </a:p>
          <a:p>
            <a:pPr marL="342900" indent="-342900">
              <a:spcAft>
                <a:spcPts val="1400"/>
              </a:spcAft>
              <a:buSzPct val="100000"/>
              <a:buChar char="•"/>
            </a:pPr>
            <a:r>
              <a:rPr lang="en-US" sz="1600" dirty="0">
                <a:solidFill>
                  <a:srgbClr val="F6F5F2"/>
                </a:solidFill>
                <a:latin typeface="Calibri" pitchFamily="34" charset="0"/>
                <a:ea typeface="Calibri" pitchFamily="34" charset="-122"/>
                <a:cs typeface="Calibri" pitchFamily="34" charset="-120"/>
              </a:rPr>
              <a:t>Moving the website off Wix, subject to the four items on the previous slide.</a:t>
            </a:r>
            <a:endParaRPr lang="en-US" sz="1600" dirty="0"/>
          </a:p>
        </p:txBody>
      </p:sp>
      <p:sp>
        <p:nvSpPr>
          <p:cNvPr id="5" name="Text 2"/>
          <p:cNvSpPr/>
          <p:nvPr/>
        </p:nvSpPr>
        <p:spPr>
          <a:xfrm>
            <a:off x="777240" y="5577840"/>
            <a:ext cx="7315200" cy="457200"/>
          </a:xfrm>
          <a:prstGeom prst="rect">
            <a:avLst/>
          </a:prstGeom>
          <a:noFill/>
          <a:ln/>
        </p:spPr>
        <p:txBody>
          <a:bodyPr wrap="square" lIns="0" tIns="0" rIns="0" bIns="0" rtlCol="0" anchor="ctr"/>
          <a:lstStyle/>
          <a:p>
            <a:pPr indent="0" marL="0">
              <a:buNone/>
            </a:pPr>
            <a:r>
              <a:rPr lang="en-US" sz="1700" i="1" dirty="0">
                <a:solidFill>
                  <a:srgbClr val="C7C3BC"/>
                </a:solidFill>
                <a:latin typeface="Cambria" pitchFamily="34" charset="0"/>
                <a:ea typeface="Cambria" pitchFamily="34" charset="-122"/>
                <a:cs typeface="Cambria" pitchFamily="34" charset="-120"/>
              </a:rPr>
              <a:t>A Change is Inevitable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and website: board approval</dc:title>
  <dc:subject>PptxGenJS Presentation</dc:subject>
  <dc:creator>The Transformation Edge</dc:creator>
  <cp:lastModifiedBy>The Transformation Edge</cp:lastModifiedBy>
  <cp:revision>1</cp:revision>
  <dcterms:created xsi:type="dcterms:W3CDTF">2026-08-15T15:26:31Z</dcterms:created>
  <dcterms:modified xsi:type="dcterms:W3CDTF">2026-08-15T15:26:31Z</dcterms:modified>
</cp:coreProperties>
</file>